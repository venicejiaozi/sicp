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29"/>
  </p:notesMasterIdLst>
  <p:sldIdLst>
    <p:sldId id="256" r:id="rId3"/>
    <p:sldId id="265" r:id="rId4"/>
    <p:sldId id="266" r:id="rId5"/>
    <p:sldId id="312" r:id="rId6"/>
    <p:sldId id="313" r:id="rId7"/>
    <p:sldId id="305" r:id="rId8"/>
    <p:sldId id="267" r:id="rId9"/>
    <p:sldId id="303" r:id="rId10"/>
    <p:sldId id="314" r:id="rId11"/>
    <p:sldId id="298" r:id="rId12"/>
    <p:sldId id="310" r:id="rId13"/>
    <p:sldId id="308" r:id="rId14"/>
    <p:sldId id="309" r:id="rId15"/>
    <p:sldId id="272" r:id="rId16"/>
    <p:sldId id="315" r:id="rId17"/>
    <p:sldId id="301" r:id="rId18"/>
    <p:sldId id="311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0"/>
      <p:bold r:id="rId31"/>
      <p:italic r:id="rId32"/>
      <p:boldItalic r:id="rId33"/>
    </p:embeddedFont>
    <p:embeddedFont>
      <p:font typeface="Roboto" panose="02000000000000000000" pitchFamily="2" charset="0"/>
      <p:regular r:id="rId34"/>
      <p:bold r:id="rId35"/>
      <p:italic r:id="rId36"/>
      <p:boldItalic r:id="rId37"/>
    </p:embeddedFont>
    <p:embeddedFont>
      <p:font typeface="Roboto Mono" panose="00000009000000000000" pitchFamily="49" charset="0"/>
      <p:regular r:id="rId38"/>
      <p:bold r:id="rId39"/>
      <p:italic r:id="rId40"/>
      <p:boldItalic r:id="rId41"/>
    </p:embeddedFont>
    <p:embeddedFont>
      <p:font typeface="等线" panose="02010600030101010101" pitchFamily="2" charset="-122"/>
      <p:regular r:id="rId42"/>
      <p:bold r:id="rId43"/>
    </p:embeddedFont>
    <p:embeddedFont>
      <p:font typeface="等线 Light" panose="02010600030101010101" pitchFamily="2" charset="-122"/>
      <p:regular r:id="rId44"/>
    </p:embeddedFont>
    <p:embeddedFont>
      <p:font typeface="微软雅黑" panose="020B0503020204020204" pitchFamily="34" charset="-122"/>
      <p:regular r:id="rId45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6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0.fntdata"/><Relationship Id="rId21" Type="http://schemas.openxmlformats.org/officeDocument/2006/relationships/slide" Target="slides/slide19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7.fntdata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8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5c171c3ca2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5c171c3ca2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5c171c3ca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5c171c3ca2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5c171c3ca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5c171c3ca2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9048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5c171c3ca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5c171c3ca2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5c171c3ca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5c171c3ca2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9074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5c171c3ca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5c171c3ca2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0997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5c171c3ca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5c171c3ca2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3201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5c171c3ca2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5c171c3ca2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5c171c3ca2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5c171c3ca2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21639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5c171c3ca2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5c171c3ca2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5c66e8731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5c66e8731d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5c66e8731d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5c66e8731d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5c66e8731d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5c66e8731d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5c66e8731d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5c66e8731d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5c66e8731d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5c66e8731d_1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5c66e8731d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5c66e8731d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5c2bd83b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5c2bd83b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5c2bd83bc0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5c2bd83bc0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5857C6-ED26-498C-B9D4-CD2E6DA32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A12F11-2316-41D8-87C9-4B69EC416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945556-777C-482A-9C8D-0CA4BBE1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2019/12/8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AC6D41-71F9-47B7-A46A-F8BC3DDE5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CECC2019 </a:t>
            </a:r>
            <a:r>
              <a:rPr lang="zh-CN" altLang="en-US"/>
              <a:t>计算机专业开放教育体系建设和教材建设系列  </a:t>
            </a:r>
            <a:r>
              <a:rPr lang="en-US" altLang="zh-CN"/>
              <a:t>2019/12/8</a:t>
            </a:r>
            <a:r>
              <a:rPr lang="zh-CN" altLang="en-US"/>
              <a:t>，厦门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F9970D-C915-4A02-9576-60EEC616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B1F30-D22B-46D9-B832-24E11EA8BE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015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14A3EB-D6F2-477F-9AB3-07F7D6C68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E9520B-2D45-415B-983D-E1C473447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614BA3-C698-4ECD-890A-389F379B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2019/12/8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92AD6F-29AF-4D37-8571-7785EBB40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CECC2019 </a:t>
            </a:r>
            <a:r>
              <a:rPr lang="zh-CN" altLang="en-US"/>
              <a:t>计算机专业开放教育体系建设和教材建设系列  </a:t>
            </a:r>
            <a:r>
              <a:rPr lang="en-US" altLang="zh-CN"/>
              <a:t>2019/12/8</a:t>
            </a:r>
            <a:r>
              <a:rPr lang="zh-CN" altLang="en-US"/>
              <a:t>，厦门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B04F91-DF1C-4CE8-8845-23DEC4FE9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B1F30-D22B-46D9-B832-24E11EA8BE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1161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F0A6A-0DCF-4D10-AEEE-5FD15AB10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25EB33-925E-4BA4-AD53-3D22255C3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48DAAD-9759-4E59-94BA-4D86D0B97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2019/12/8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5725D5-4AC1-4251-8E6D-D8156D246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CECC2019 </a:t>
            </a:r>
            <a:r>
              <a:rPr lang="zh-CN" altLang="en-US"/>
              <a:t>计算机专业开放教育体系建设和教材建设系列  </a:t>
            </a:r>
            <a:r>
              <a:rPr lang="en-US" altLang="zh-CN"/>
              <a:t>2019/12/8</a:t>
            </a:r>
            <a:r>
              <a:rPr lang="zh-CN" altLang="en-US"/>
              <a:t>，厦门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4CF923-2219-4A70-9DBF-ACB3E636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B1F30-D22B-46D9-B832-24E11EA8BE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844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D5C6B-1CAA-41A7-9A12-E879FA1FD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FFDBD7-DF89-45C0-AEB7-613BBC424D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487881-F5BA-4A4F-95D5-4D8975DF6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057031-7D73-4B52-85BA-12ED5D56E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2019/12/8</a:t>
            </a: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3D6596-8FE2-4F79-914E-47390C3BC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CECC2019 </a:t>
            </a:r>
            <a:r>
              <a:rPr lang="zh-CN" altLang="en-US"/>
              <a:t>计算机专业开放教育体系建设和教材建设系列  </a:t>
            </a:r>
            <a:r>
              <a:rPr lang="en-US" altLang="zh-CN"/>
              <a:t>2019/12/8</a:t>
            </a:r>
            <a:r>
              <a:rPr lang="zh-CN" altLang="en-US"/>
              <a:t>，厦门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6F725B-FD17-4D02-A39E-0010C3CBE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B1F30-D22B-46D9-B832-24E11EA8BE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905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E9F769-071A-4E9D-B917-35EFBB5EE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4535D4-0937-4D77-9398-760FEDF6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87280F-2C6C-4710-A642-0C51044E1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2B330C-0D6D-434A-BAF7-0B4FFB8DA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30A6A1-43CD-4AC0-9937-E71143651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74A553-9D37-4B34-BCA5-0246960B0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2019/12/8</a:t>
            </a:r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D3BF5F7-3047-467F-A4B4-94FC870EE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CECC2019 </a:t>
            </a:r>
            <a:r>
              <a:rPr lang="zh-CN" altLang="en-US"/>
              <a:t>计算机专业开放教育体系建设和教材建设系列  </a:t>
            </a:r>
            <a:r>
              <a:rPr lang="en-US" altLang="zh-CN"/>
              <a:t>2019/12/8</a:t>
            </a:r>
            <a:r>
              <a:rPr lang="zh-CN" altLang="en-US"/>
              <a:t>，厦门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531297-F5D4-46A3-BE58-AAA2214D2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B1F30-D22B-46D9-B832-24E11EA8BE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833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CCB42-47CB-4D56-8107-6182A73E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C6757C-11B4-4C2F-8271-1623551B6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2019/12/8</a:t>
            </a:r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FF43BE-5DF7-4286-B21D-2FB6C9C9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CECC2019 </a:t>
            </a:r>
            <a:r>
              <a:rPr lang="zh-CN" altLang="en-US"/>
              <a:t>计算机专业开放教育体系建设和教材建设系列  </a:t>
            </a:r>
            <a:r>
              <a:rPr lang="en-US" altLang="zh-CN"/>
              <a:t>2019/12/8</a:t>
            </a:r>
            <a:r>
              <a:rPr lang="zh-CN" altLang="en-US"/>
              <a:t>，厦门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FB65B6-002F-467A-931E-E6C6F7D47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B1F30-D22B-46D9-B832-24E11EA8BE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0673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C9319C-FDD7-494C-85B2-440C87CA9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2019/12/8</a:t>
            </a:r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F431333-2395-4A9A-B59F-BCE966672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CECC2019 </a:t>
            </a:r>
            <a:r>
              <a:rPr lang="zh-CN" altLang="en-US"/>
              <a:t>计算机专业开放教育体系建设和教材建设系列  </a:t>
            </a:r>
            <a:r>
              <a:rPr lang="en-US" altLang="zh-CN"/>
              <a:t>2019/12/8</a:t>
            </a:r>
            <a:r>
              <a:rPr lang="zh-CN" altLang="en-US"/>
              <a:t>，厦门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259F63-707D-4F63-B4F3-58C5ACAEB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B1F30-D22B-46D9-B832-24E11EA8BE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4708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B97579-CA53-4EAB-903B-7CCBAA0F9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B40527-E66D-40E0-82B2-6B5C1EA64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1212CE-09AA-41F6-950C-1DF089B39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37EB6C-67F6-4DE2-9167-7600CD26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2019/12/8</a:t>
            </a: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48AA75-AD50-4AC9-AB7D-B4BAD08F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CECC2019 </a:t>
            </a:r>
            <a:r>
              <a:rPr lang="zh-CN" altLang="en-US"/>
              <a:t>计算机专业开放教育体系建设和教材建设系列  </a:t>
            </a:r>
            <a:r>
              <a:rPr lang="en-US" altLang="zh-CN"/>
              <a:t>2019/12/8</a:t>
            </a:r>
            <a:r>
              <a:rPr lang="zh-CN" altLang="en-US"/>
              <a:t>，厦门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35F76A-9B17-4EA1-9ADF-4FB25594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B1F30-D22B-46D9-B832-24E11EA8BE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8068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564DC-BFF0-4505-B4FD-224900BD6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F73927-A5AF-4C1F-9C7E-5FAD5364A0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1255A1-8E37-47B1-BE69-124B3DBF4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0B676F-5B54-4EB9-96D8-3CAD9E932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2019/12/8</a:t>
            </a: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E703E6-8058-4D70-BD51-F184E7511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CECC2019 </a:t>
            </a:r>
            <a:r>
              <a:rPr lang="zh-CN" altLang="en-US"/>
              <a:t>计算机专业开放教育体系建设和教材建设系列  </a:t>
            </a:r>
            <a:r>
              <a:rPr lang="en-US" altLang="zh-CN"/>
              <a:t>2019/12/8</a:t>
            </a:r>
            <a:r>
              <a:rPr lang="zh-CN" altLang="en-US"/>
              <a:t>，厦门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3A1780-497D-4467-B3CA-6B494F869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B1F30-D22B-46D9-B832-24E11EA8BE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2983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8D80E-BAD2-4269-B359-3C998E3D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70E4A0-4BE2-4C4B-BECB-DBC9C6A88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7327B2-4585-48AA-A483-B942FB385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2019/12/8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A932CA-EE40-48C9-B20D-B323F611E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CECC2019 </a:t>
            </a:r>
            <a:r>
              <a:rPr lang="zh-CN" altLang="en-US"/>
              <a:t>计算机专业开放教育体系建设和教材建设系列  </a:t>
            </a:r>
            <a:r>
              <a:rPr lang="en-US" altLang="zh-CN"/>
              <a:t>2019/12/8</a:t>
            </a:r>
            <a:r>
              <a:rPr lang="zh-CN" altLang="en-US"/>
              <a:t>，厦门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94FFBA-D958-4088-9C63-9B3C5F15D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B1F30-D22B-46D9-B832-24E11EA8BE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4886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2A4BEA-070C-483A-B085-A972645E5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1778F9-DB5E-4B88-97EA-D32219F13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FE26D3-4DB6-4E55-AD4D-E9A69A1A5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2019/12/8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9523FE-1D24-4DF2-A537-A3197A2C0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CECC2019 </a:t>
            </a:r>
            <a:r>
              <a:rPr lang="zh-CN" altLang="en-US"/>
              <a:t>计算机专业开放教育体系建设和教材建设系列  </a:t>
            </a:r>
            <a:r>
              <a:rPr lang="en-US" altLang="zh-CN"/>
              <a:t>2019/12/8</a:t>
            </a:r>
            <a:r>
              <a:rPr lang="zh-CN" altLang="en-US"/>
              <a:t>，厦门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D78CDD-8F5E-48BD-AFFE-7FD09A86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B1F30-D22B-46D9-B832-24E11EA8BE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638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DD0D31-6709-404F-B30E-D3CA4B5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837310-C0DF-453B-8834-E14E0E363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13B030-C2C6-4DCD-8910-FDA48944D8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2019/12/8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9FD5EB-E054-47F8-A328-57185CED1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CECC2019 </a:t>
            </a:r>
            <a:r>
              <a:rPr lang="zh-CN" altLang="en-US"/>
              <a:t>计算机专业开放教育体系建设和教材建设系列  </a:t>
            </a:r>
            <a:r>
              <a:rPr lang="en-US" altLang="zh-CN"/>
              <a:t>2019/12/8</a:t>
            </a:r>
            <a:r>
              <a:rPr lang="zh-CN" altLang="en-US"/>
              <a:t>，厦门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6B616E-820A-4DB5-A694-77417A401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B1F30-D22B-46D9-B832-24E11EA8BE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03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composingprograms.com/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osingprograms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icp.pascal-lab.net/2026" TargetMode="External"/><Relationship Id="rId4" Type="http://schemas.openxmlformats.org/officeDocument/2006/relationships/hyperlink" Target="https://sicp.pascal-lab.net/2023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Course 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Intro</a:t>
            </a:r>
            <a:r>
              <a:rPr lang="en-US" altLang="zh-CN" dirty="0">
                <a:latin typeface="Roboto"/>
                <a:ea typeface="Roboto"/>
                <a:cs typeface="Roboto"/>
                <a:sym typeface="Roboto"/>
              </a:rPr>
              <a:t>duction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2026 / 9 / 14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3D7A574-4909-429E-A653-41AF9D17B543}"/>
              </a:ext>
            </a:extLst>
          </p:cNvPr>
          <p:cNvSpPr txBox="1"/>
          <p:nvPr/>
        </p:nvSpPr>
        <p:spPr>
          <a:xfrm>
            <a:off x="4881776" y="4579464"/>
            <a:ext cx="3213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Slides adapted from Berkeley CS61a 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Roboto"/>
                <a:ea typeface="Roboto"/>
                <a:cs typeface="Roboto"/>
                <a:sym typeface="Roboto"/>
              </a:rPr>
              <a:t>What is Computer Science?</a:t>
            </a:r>
            <a:endParaRPr sz="3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What problems can be solved using computation?</a:t>
            </a:r>
            <a:endParaRPr sz="20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How to solve those problems?</a:t>
            </a:r>
            <a:endParaRPr sz="20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What techniques lead to effective solutions?</a:t>
            </a:r>
            <a:endParaRPr sz="20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BADEE80E-4D68-49C6-855D-DCB171117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6319" y="3360254"/>
            <a:ext cx="4364374" cy="1477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595959"/>
                </a:solidFill>
                <a:latin typeface="Roboto" panose="02010600030101010101" charset="0"/>
                <a:ea typeface="Roboto" panose="02010600030101010101" charset="0"/>
              </a:rPr>
              <a:t>Computer Science is no more about computers than astronomy is about telescopes.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rgbClr val="595959"/>
                </a:solidFill>
                <a:latin typeface="Roboto" panose="02010600030101010101" charset="0"/>
                <a:ea typeface="Roboto" panose="02010600030101010101" charset="0"/>
              </a:rPr>
              <a:t>                              </a:t>
            </a:r>
            <a:r>
              <a:rPr lang="en-US" altLang="zh-CN" sz="2000" dirty="0" err="1">
                <a:solidFill>
                  <a:srgbClr val="595959"/>
                </a:solidFill>
                <a:latin typeface="Roboto" panose="02010600030101010101" charset="0"/>
                <a:ea typeface="Roboto" panose="02010600030101010101" charset="0"/>
              </a:rPr>
              <a:t>Edsger</a:t>
            </a:r>
            <a:r>
              <a:rPr lang="en-US" altLang="zh-CN" sz="2000" dirty="0">
                <a:solidFill>
                  <a:srgbClr val="595959"/>
                </a:solidFill>
                <a:latin typeface="Roboto" panose="02010600030101010101" charset="0"/>
                <a:ea typeface="Roboto" panose="02010600030101010101" charset="0"/>
              </a:rPr>
              <a:t> W. Dijkstra</a:t>
            </a:r>
          </a:p>
        </p:txBody>
      </p:sp>
      <p:pic>
        <p:nvPicPr>
          <p:cNvPr id="6" name="Picture 3" descr="Edsger_Wybe_Dijkstra">
            <a:extLst>
              <a:ext uri="{FF2B5EF4-FFF2-40B4-BE49-F238E27FC236}">
                <a16:creationId xmlns:a16="http://schemas.microsoft.com/office/drawing/2014/main" id="{72E88414-4605-43D7-9902-295C4678F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119" y="3049235"/>
            <a:ext cx="1367780" cy="1823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Roboto"/>
                <a:ea typeface="Roboto"/>
                <a:cs typeface="Roboto"/>
                <a:sym typeface="Roboto"/>
              </a:rPr>
              <a:t>What is Computer Science?</a:t>
            </a:r>
            <a:endParaRPr sz="3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509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 altLang="zh-CN" dirty="0">
                <a:latin typeface="Roboto"/>
                <a:ea typeface="Roboto"/>
                <a:cs typeface="Roboto"/>
                <a:sym typeface="Roboto"/>
              </a:rPr>
              <a:t>Architectures and Operating 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Systems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30000"/>
              </a:lnSpc>
              <a:buFont typeface="Roboto"/>
              <a:buChar char="●"/>
            </a:pPr>
            <a:r>
              <a:rPr lang="en-US" altLang="zh-CN" dirty="0">
                <a:latin typeface="Roboto"/>
                <a:ea typeface="Roboto"/>
                <a:cs typeface="Roboto"/>
                <a:sym typeface="Roboto"/>
              </a:rPr>
              <a:t>Programming Languages</a:t>
            </a:r>
          </a:p>
          <a:p>
            <a:pPr lvl="0">
              <a:lnSpc>
                <a:spcPct val="130000"/>
              </a:lnSpc>
              <a:buFont typeface="Roboto"/>
              <a:buChar char="●"/>
            </a:pPr>
            <a:r>
              <a:rPr lang="en-US" altLang="zh-CN" dirty="0">
                <a:latin typeface="Roboto"/>
                <a:ea typeface="Roboto"/>
                <a:cs typeface="Roboto"/>
                <a:sym typeface="Roboto"/>
              </a:rPr>
              <a:t>Databases</a:t>
            </a:r>
          </a:p>
          <a:p>
            <a:pPr lvl="0">
              <a:lnSpc>
                <a:spcPct val="130000"/>
              </a:lnSpc>
              <a:buFont typeface="Roboto"/>
              <a:buChar char="●"/>
            </a:pPr>
            <a:r>
              <a:rPr lang="en-US" altLang="zh-CN" dirty="0">
                <a:latin typeface="Roboto"/>
                <a:ea typeface="Roboto"/>
                <a:cs typeface="Roboto"/>
                <a:sym typeface="Roboto"/>
              </a:rPr>
              <a:t>Theory</a:t>
            </a:r>
          </a:p>
          <a:p>
            <a:pPr>
              <a:lnSpc>
                <a:spcPct val="130000"/>
              </a:lnSpc>
              <a:buFont typeface="Roboto"/>
              <a:buChar char="●"/>
            </a:pPr>
            <a:r>
              <a:rPr lang="en-US" altLang="zh-CN" dirty="0">
                <a:latin typeface="Roboto"/>
                <a:ea typeface="Roboto"/>
                <a:cs typeface="Roboto"/>
                <a:sym typeface="Roboto"/>
              </a:rPr>
              <a:t>Scientific Computing</a:t>
            </a:r>
          </a:p>
          <a:p>
            <a:pPr lvl="0">
              <a:lnSpc>
                <a:spcPct val="130000"/>
              </a:lnSpc>
              <a:buFont typeface="Roboto"/>
              <a:buChar char="●"/>
            </a:pPr>
            <a:r>
              <a:rPr lang="en-US" altLang="zh-CN" dirty="0">
                <a:latin typeface="Roboto"/>
                <a:ea typeface="Roboto"/>
                <a:cs typeface="Roboto"/>
                <a:sym typeface="Roboto"/>
              </a:rPr>
              <a:t>Security</a:t>
            </a:r>
          </a:p>
          <a:p>
            <a:pPr lvl="0">
              <a:lnSpc>
                <a:spcPct val="130000"/>
              </a:lnSpc>
              <a:buFont typeface="Roboto"/>
              <a:buChar char="●"/>
            </a:pPr>
            <a:r>
              <a:rPr lang="en-US" altLang="zh-CN" dirty="0">
                <a:latin typeface="Roboto"/>
                <a:ea typeface="Roboto"/>
                <a:cs typeface="Roboto"/>
                <a:sym typeface="Roboto"/>
              </a:rPr>
              <a:t>Networking</a:t>
            </a: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Artificial Intelligence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Graphics</a:t>
            </a: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…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A1B150-9839-4DE6-A78F-8F5161BFEB03}"/>
              </a:ext>
            </a:extLst>
          </p:cNvPr>
          <p:cNvSpPr txBox="1"/>
          <p:nvPr/>
        </p:nvSpPr>
        <p:spPr>
          <a:xfrm>
            <a:off x="2504378" y="4137754"/>
            <a:ext cx="5046660" cy="33855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体系结构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Computer Architecture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E3C1C9-AB33-4D4C-ACD3-1030DDBE1461}"/>
              </a:ext>
            </a:extLst>
          </p:cNvPr>
          <p:cNvSpPr txBox="1"/>
          <p:nvPr/>
        </p:nvSpPr>
        <p:spPr>
          <a:xfrm>
            <a:off x="2504378" y="3378167"/>
            <a:ext cx="5046657" cy="33855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 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04F151-7D57-4290-9B72-FA376C5762F2}"/>
              </a:ext>
            </a:extLst>
          </p:cNvPr>
          <p:cNvSpPr txBox="1"/>
          <p:nvPr/>
        </p:nvSpPr>
        <p:spPr>
          <a:xfrm>
            <a:off x="4605464" y="3018890"/>
            <a:ext cx="1657059" cy="33855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大数据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808929-54AD-49EC-B850-EDE747F664D7}"/>
              </a:ext>
            </a:extLst>
          </p:cNvPr>
          <p:cNvSpPr txBox="1"/>
          <p:nvPr/>
        </p:nvSpPr>
        <p:spPr>
          <a:xfrm>
            <a:off x="2504378" y="3014688"/>
            <a:ext cx="1409483" cy="33855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AA16F4-5E2D-4E85-8075-78380A203D45}"/>
              </a:ext>
            </a:extLst>
          </p:cNvPr>
          <p:cNvSpPr txBox="1"/>
          <p:nvPr/>
        </p:nvSpPr>
        <p:spPr>
          <a:xfrm>
            <a:off x="2504379" y="3760581"/>
            <a:ext cx="5046658" cy="33855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编程语言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7C5B0C-8C28-403B-BCFF-7FFF7AD5C97B}"/>
              </a:ext>
            </a:extLst>
          </p:cNvPr>
          <p:cNvSpPr txBox="1"/>
          <p:nvPr/>
        </p:nvSpPr>
        <p:spPr>
          <a:xfrm>
            <a:off x="2504378" y="2641742"/>
            <a:ext cx="5046656" cy="33855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软件工程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F154F5-2EE1-48A0-9E87-A9440D31B019}"/>
              </a:ext>
            </a:extLst>
          </p:cNvPr>
          <p:cNvSpPr txBox="1"/>
          <p:nvPr/>
        </p:nvSpPr>
        <p:spPr>
          <a:xfrm>
            <a:off x="2504378" y="2069141"/>
            <a:ext cx="944366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图形学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147453-073A-4737-A18F-2A99AF6CF3A2}"/>
              </a:ext>
            </a:extLst>
          </p:cNvPr>
          <p:cNvSpPr txBox="1"/>
          <p:nvPr/>
        </p:nvSpPr>
        <p:spPr>
          <a:xfrm>
            <a:off x="3547906" y="2069141"/>
            <a:ext cx="1521720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科学计算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1A8A0C-8D7D-401B-93E6-795A7E932A40}"/>
              </a:ext>
            </a:extLst>
          </p:cNvPr>
          <p:cNvSpPr txBox="1"/>
          <p:nvPr/>
        </p:nvSpPr>
        <p:spPr>
          <a:xfrm>
            <a:off x="5168788" y="2069141"/>
            <a:ext cx="1302609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计算机视觉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5B4220-7114-4BDB-814B-E37CA8A0F1B7}"/>
              </a:ext>
            </a:extLst>
          </p:cNvPr>
          <p:cNvSpPr txBox="1"/>
          <p:nvPr/>
        </p:nvSpPr>
        <p:spPr>
          <a:xfrm>
            <a:off x="6532652" y="2075988"/>
            <a:ext cx="1018386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55A1836-B1B3-4F1F-9198-5FE8DFD067F0}"/>
              </a:ext>
            </a:extLst>
          </p:cNvPr>
          <p:cNvSpPr txBox="1"/>
          <p:nvPr/>
        </p:nvSpPr>
        <p:spPr>
          <a:xfrm>
            <a:off x="3937367" y="3014688"/>
            <a:ext cx="621816" cy="33855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744277-EDA3-4361-A6E6-BC42680A49F0}"/>
              </a:ext>
            </a:extLst>
          </p:cNvPr>
          <p:cNvSpPr txBox="1"/>
          <p:nvPr/>
        </p:nvSpPr>
        <p:spPr>
          <a:xfrm>
            <a:off x="6318088" y="3014688"/>
            <a:ext cx="1232947" cy="33855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0ADEB73-FAAC-42CC-A493-53EC93C06502}"/>
              </a:ext>
            </a:extLst>
          </p:cNvPr>
          <p:cNvSpPr txBox="1"/>
          <p:nvPr/>
        </p:nvSpPr>
        <p:spPr>
          <a:xfrm>
            <a:off x="2504378" y="1638581"/>
            <a:ext cx="944366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元宇宙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40FBA5D-928F-4759-8704-9CA5A63B23C0}"/>
              </a:ext>
            </a:extLst>
          </p:cNvPr>
          <p:cNvSpPr txBox="1"/>
          <p:nvPr/>
        </p:nvSpPr>
        <p:spPr>
          <a:xfrm>
            <a:off x="3547906" y="1638580"/>
            <a:ext cx="944366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区块链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BCF1FA7-BEAD-4D6F-9B54-CE9F4EB57610}"/>
              </a:ext>
            </a:extLst>
          </p:cNvPr>
          <p:cNvSpPr txBox="1"/>
          <p:nvPr/>
        </p:nvSpPr>
        <p:spPr>
          <a:xfrm>
            <a:off x="4563582" y="1638579"/>
            <a:ext cx="944366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52F707C-5F15-4204-A2B4-D6BBD0839690}"/>
              </a:ext>
            </a:extLst>
          </p:cNvPr>
          <p:cNvSpPr txBox="1"/>
          <p:nvPr/>
        </p:nvSpPr>
        <p:spPr>
          <a:xfrm>
            <a:off x="5593185" y="1634182"/>
            <a:ext cx="944366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7A291D-893B-4B0E-BE4E-1F404AC282C0}"/>
              </a:ext>
            </a:extLst>
          </p:cNvPr>
          <p:cNvSpPr txBox="1"/>
          <p:nvPr/>
        </p:nvSpPr>
        <p:spPr>
          <a:xfrm>
            <a:off x="6606668" y="1634181"/>
            <a:ext cx="944366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F14F0AA-E9E4-4D36-88C4-7F53B5BF3D2C}"/>
              </a:ext>
            </a:extLst>
          </p:cNvPr>
          <p:cNvSpPr txBox="1"/>
          <p:nvPr/>
        </p:nvSpPr>
        <p:spPr>
          <a:xfrm>
            <a:off x="557967" y="1332148"/>
            <a:ext cx="1156668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统计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EDFD0EF-D4AE-409C-BAD7-56541D9F6FD4}"/>
              </a:ext>
            </a:extLst>
          </p:cNvPr>
          <p:cNvSpPr txBox="1"/>
          <p:nvPr/>
        </p:nvSpPr>
        <p:spPr>
          <a:xfrm>
            <a:off x="557967" y="1768231"/>
            <a:ext cx="1156668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线性代数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34134A8-1900-4508-AFB2-790939CDD04A}"/>
              </a:ext>
            </a:extLst>
          </p:cNvPr>
          <p:cNvSpPr txBox="1"/>
          <p:nvPr/>
        </p:nvSpPr>
        <p:spPr>
          <a:xfrm>
            <a:off x="557967" y="2204314"/>
            <a:ext cx="1156668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微积分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54E3A63-90D2-4138-8C28-D3B084F272FE}"/>
              </a:ext>
            </a:extLst>
          </p:cNvPr>
          <p:cNvSpPr txBox="1"/>
          <p:nvPr/>
        </p:nvSpPr>
        <p:spPr>
          <a:xfrm>
            <a:off x="557967" y="2640397"/>
            <a:ext cx="1156668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数值计算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58D16D6-71C6-4D53-AEDC-3AF1ED112052}"/>
              </a:ext>
            </a:extLst>
          </p:cNvPr>
          <p:cNvSpPr txBox="1"/>
          <p:nvPr/>
        </p:nvSpPr>
        <p:spPr>
          <a:xfrm>
            <a:off x="557967" y="3949107"/>
            <a:ext cx="1156668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离散数学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1A1F05-9F01-4C1C-B61D-806B28556AEC}"/>
              </a:ext>
            </a:extLst>
          </p:cNvPr>
          <p:cNvSpPr txBox="1"/>
          <p:nvPr/>
        </p:nvSpPr>
        <p:spPr>
          <a:xfrm>
            <a:off x="557967" y="4385190"/>
            <a:ext cx="1156668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EC9F3D9-CE9D-4FA5-A315-4B4A64BC6140}"/>
              </a:ext>
            </a:extLst>
          </p:cNvPr>
          <p:cNvSpPr txBox="1"/>
          <p:nvPr/>
        </p:nvSpPr>
        <p:spPr>
          <a:xfrm>
            <a:off x="557967" y="3067179"/>
            <a:ext cx="1156668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抽象代数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D9D9A68-3DA1-4CAA-84CC-6B6F223356B8}"/>
              </a:ext>
            </a:extLst>
          </p:cNvPr>
          <p:cNvSpPr txBox="1"/>
          <p:nvPr/>
        </p:nvSpPr>
        <p:spPr>
          <a:xfrm>
            <a:off x="557967" y="3503262"/>
            <a:ext cx="1156668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数理逻辑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79C35F-F105-4D50-8708-36825FA91653}"/>
              </a:ext>
            </a:extLst>
          </p:cNvPr>
          <p:cNvSpPr txBox="1"/>
          <p:nvPr/>
        </p:nvSpPr>
        <p:spPr>
          <a:xfrm>
            <a:off x="1889340" y="1634181"/>
            <a:ext cx="418520" cy="2842127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计算理论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3FA49AF-C8BF-42B7-A0E7-C0AD5B4DDC50}"/>
              </a:ext>
            </a:extLst>
          </p:cNvPr>
          <p:cNvSpPr/>
          <p:nvPr/>
        </p:nvSpPr>
        <p:spPr>
          <a:xfrm>
            <a:off x="1792637" y="1485320"/>
            <a:ext cx="5905334" cy="31284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37C3317B-FD9E-4ECA-B54C-7EC107800A80}"/>
              </a:ext>
            </a:extLst>
          </p:cNvPr>
          <p:cNvSpPr/>
          <p:nvPr/>
        </p:nvSpPr>
        <p:spPr>
          <a:xfrm>
            <a:off x="7751133" y="2663800"/>
            <a:ext cx="270295" cy="1812508"/>
          </a:xfrm>
          <a:prstGeom prst="rightBrace">
            <a:avLst>
              <a:gd name="adj1" fmla="val 47670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6DFE226-49C0-42B7-8473-AE988E8047BE}"/>
              </a:ext>
            </a:extLst>
          </p:cNvPr>
          <p:cNvSpPr txBox="1"/>
          <p:nvPr/>
        </p:nvSpPr>
        <p:spPr>
          <a:xfrm>
            <a:off x="7987316" y="3091313"/>
            <a:ext cx="5901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如何让计算机变得有用、好用</a:t>
            </a:r>
          </a:p>
        </p:txBody>
      </p:sp>
      <p:sp>
        <p:nvSpPr>
          <p:cNvPr id="36" name="右大括号 35">
            <a:extLst>
              <a:ext uri="{FF2B5EF4-FFF2-40B4-BE49-F238E27FC236}">
                <a16:creationId xmlns:a16="http://schemas.microsoft.com/office/drawing/2014/main" id="{0B67A438-D626-45E6-AF01-23D09417706D}"/>
              </a:ext>
            </a:extLst>
          </p:cNvPr>
          <p:cNvSpPr/>
          <p:nvPr/>
        </p:nvSpPr>
        <p:spPr>
          <a:xfrm>
            <a:off x="7754931" y="1488047"/>
            <a:ext cx="270295" cy="991653"/>
          </a:xfrm>
          <a:prstGeom prst="rightBrace">
            <a:avLst>
              <a:gd name="adj1" fmla="val 47670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DA04540-7CDB-4FA2-89E4-E7CDDAAE0D9D}"/>
              </a:ext>
            </a:extLst>
          </p:cNvPr>
          <p:cNvSpPr txBox="1"/>
          <p:nvPr/>
        </p:nvSpPr>
        <p:spPr>
          <a:xfrm>
            <a:off x="7984118" y="1236597"/>
            <a:ext cx="5901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如何用计算机解决现实问题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204A7D6-097E-4F8F-83ED-775980F3A399}"/>
              </a:ext>
            </a:extLst>
          </p:cNvPr>
          <p:cNvCxnSpPr/>
          <p:nvPr/>
        </p:nvCxnSpPr>
        <p:spPr>
          <a:xfrm>
            <a:off x="2466753" y="2577066"/>
            <a:ext cx="6018028" cy="0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175;p23">
            <a:extLst>
              <a:ext uri="{FF2B5EF4-FFF2-40B4-BE49-F238E27FC236}">
                <a16:creationId xmlns:a16="http://schemas.microsoft.com/office/drawing/2014/main" id="{562220C5-592A-40E1-AA95-8D6BB4EC19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Roboto"/>
                <a:ea typeface="Roboto"/>
                <a:cs typeface="Roboto"/>
                <a:sym typeface="Roboto"/>
              </a:rPr>
              <a:t>What is Computer Science?</a:t>
            </a:r>
            <a:endParaRPr sz="3200"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70562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A1B150-9839-4DE6-A78F-8F5161BFEB03}"/>
              </a:ext>
            </a:extLst>
          </p:cNvPr>
          <p:cNvSpPr txBox="1"/>
          <p:nvPr/>
        </p:nvSpPr>
        <p:spPr>
          <a:xfrm>
            <a:off x="2504378" y="4137754"/>
            <a:ext cx="5046660" cy="338554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体系结构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（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Architectures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E3C1C9-AB33-4D4C-ACD3-1030DDBE1461}"/>
              </a:ext>
            </a:extLst>
          </p:cNvPr>
          <p:cNvSpPr txBox="1"/>
          <p:nvPr/>
        </p:nvSpPr>
        <p:spPr>
          <a:xfrm>
            <a:off x="2504378" y="3378167"/>
            <a:ext cx="5046657" cy="33855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操作系统 （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OS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04F151-7D57-4290-9B72-FA376C5762F2}"/>
              </a:ext>
            </a:extLst>
          </p:cNvPr>
          <p:cNvSpPr txBox="1"/>
          <p:nvPr/>
        </p:nvSpPr>
        <p:spPr>
          <a:xfrm>
            <a:off x="4605464" y="3018890"/>
            <a:ext cx="1657059" cy="33855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数据库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大数据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808929-54AD-49EC-B850-EDE747F664D7}"/>
              </a:ext>
            </a:extLst>
          </p:cNvPr>
          <p:cNvSpPr txBox="1"/>
          <p:nvPr/>
        </p:nvSpPr>
        <p:spPr>
          <a:xfrm>
            <a:off x="2504378" y="3014688"/>
            <a:ext cx="1409483" cy="33855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计算机网络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AA16F4-5E2D-4E85-8075-78380A203D45}"/>
              </a:ext>
            </a:extLst>
          </p:cNvPr>
          <p:cNvSpPr txBox="1"/>
          <p:nvPr/>
        </p:nvSpPr>
        <p:spPr>
          <a:xfrm>
            <a:off x="2504379" y="3760581"/>
            <a:ext cx="5046658" cy="33855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编程语言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/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编译器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7C5B0C-8C28-403B-BCFF-7FFF7AD5C97B}"/>
              </a:ext>
            </a:extLst>
          </p:cNvPr>
          <p:cNvSpPr txBox="1"/>
          <p:nvPr/>
        </p:nvSpPr>
        <p:spPr>
          <a:xfrm>
            <a:off x="2504378" y="2641742"/>
            <a:ext cx="5046656" cy="33855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软件工程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F154F5-2EE1-48A0-9E87-A9440D31B019}"/>
              </a:ext>
            </a:extLst>
          </p:cNvPr>
          <p:cNvSpPr txBox="1"/>
          <p:nvPr/>
        </p:nvSpPr>
        <p:spPr>
          <a:xfrm>
            <a:off x="2504378" y="2069141"/>
            <a:ext cx="944366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图形学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147453-073A-4737-A18F-2A99AF6CF3A2}"/>
              </a:ext>
            </a:extLst>
          </p:cNvPr>
          <p:cNvSpPr txBox="1"/>
          <p:nvPr/>
        </p:nvSpPr>
        <p:spPr>
          <a:xfrm>
            <a:off x="3547906" y="2069141"/>
            <a:ext cx="1521720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科学计算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1A8A0C-8D7D-401B-93E6-795A7E932A40}"/>
              </a:ext>
            </a:extLst>
          </p:cNvPr>
          <p:cNvSpPr txBox="1"/>
          <p:nvPr/>
        </p:nvSpPr>
        <p:spPr>
          <a:xfrm>
            <a:off x="5168788" y="2069141"/>
            <a:ext cx="1302609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计算机视觉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5B4220-7114-4BDB-814B-E37CA8A0F1B7}"/>
              </a:ext>
            </a:extLst>
          </p:cNvPr>
          <p:cNvSpPr txBox="1"/>
          <p:nvPr/>
        </p:nvSpPr>
        <p:spPr>
          <a:xfrm>
            <a:off x="6532652" y="2075988"/>
            <a:ext cx="1018386" cy="3799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机器人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55A1836-B1B3-4F1F-9198-5FE8DFD067F0}"/>
              </a:ext>
            </a:extLst>
          </p:cNvPr>
          <p:cNvSpPr txBox="1"/>
          <p:nvPr/>
        </p:nvSpPr>
        <p:spPr>
          <a:xfrm>
            <a:off x="3937367" y="3014688"/>
            <a:ext cx="621816" cy="33855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安全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744277-EDA3-4361-A6E6-BC42680A49F0}"/>
              </a:ext>
            </a:extLst>
          </p:cNvPr>
          <p:cNvSpPr txBox="1"/>
          <p:nvPr/>
        </p:nvSpPr>
        <p:spPr>
          <a:xfrm>
            <a:off x="6318088" y="3014688"/>
            <a:ext cx="1232947" cy="33855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人工智能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0ADEB73-FAAC-42CC-A493-53EC93C06502}"/>
              </a:ext>
            </a:extLst>
          </p:cNvPr>
          <p:cNvSpPr txBox="1"/>
          <p:nvPr/>
        </p:nvSpPr>
        <p:spPr>
          <a:xfrm>
            <a:off x="2504378" y="1638581"/>
            <a:ext cx="944366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元宇宙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40FBA5D-928F-4759-8704-9CA5A63B23C0}"/>
              </a:ext>
            </a:extLst>
          </p:cNvPr>
          <p:cNvSpPr txBox="1"/>
          <p:nvPr/>
        </p:nvSpPr>
        <p:spPr>
          <a:xfrm>
            <a:off x="3547906" y="1638580"/>
            <a:ext cx="944366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区块链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BCF1FA7-BEAD-4D6F-9B54-CE9F4EB57610}"/>
              </a:ext>
            </a:extLst>
          </p:cNvPr>
          <p:cNvSpPr txBox="1"/>
          <p:nvPr/>
        </p:nvSpPr>
        <p:spPr>
          <a:xfrm>
            <a:off x="4563582" y="1638579"/>
            <a:ext cx="944366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…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52F707C-5F15-4204-A2B4-D6BBD0839690}"/>
              </a:ext>
            </a:extLst>
          </p:cNvPr>
          <p:cNvSpPr txBox="1"/>
          <p:nvPr/>
        </p:nvSpPr>
        <p:spPr>
          <a:xfrm>
            <a:off x="5593185" y="1634182"/>
            <a:ext cx="944366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…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7A291D-893B-4B0E-BE4E-1F404AC282C0}"/>
              </a:ext>
            </a:extLst>
          </p:cNvPr>
          <p:cNvSpPr txBox="1"/>
          <p:nvPr/>
        </p:nvSpPr>
        <p:spPr>
          <a:xfrm>
            <a:off x="6606668" y="1634181"/>
            <a:ext cx="944366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…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F14F0AA-E9E4-4D36-88C4-7F53B5BF3D2C}"/>
              </a:ext>
            </a:extLst>
          </p:cNvPr>
          <p:cNvSpPr txBox="1"/>
          <p:nvPr/>
        </p:nvSpPr>
        <p:spPr>
          <a:xfrm>
            <a:off x="557967" y="1332148"/>
            <a:ext cx="1156668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概率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统计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EDFD0EF-D4AE-409C-BAD7-56541D9F6FD4}"/>
              </a:ext>
            </a:extLst>
          </p:cNvPr>
          <p:cNvSpPr txBox="1"/>
          <p:nvPr/>
        </p:nvSpPr>
        <p:spPr>
          <a:xfrm>
            <a:off x="557967" y="1768231"/>
            <a:ext cx="1156668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线性代数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34134A8-1900-4508-AFB2-790939CDD04A}"/>
              </a:ext>
            </a:extLst>
          </p:cNvPr>
          <p:cNvSpPr txBox="1"/>
          <p:nvPr/>
        </p:nvSpPr>
        <p:spPr>
          <a:xfrm>
            <a:off x="557967" y="2204314"/>
            <a:ext cx="1156668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微积分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54E3A63-90D2-4138-8C28-D3B084F272FE}"/>
              </a:ext>
            </a:extLst>
          </p:cNvPr>
          <p:cNvSpPr txBox="1"/>
          <p:nvPr/>
        </p:nvSpPr>
        <p:spPr>
          <a:xfrm>
            <a:off x="557967" y="2640397"/>
            <a:ext cx="1156668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数值计算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58D16D6-71C6-4D53-AEDC-3AF1ED112052}"/>
              </a:ext>
            </a:extLst>
          </p:cNvPr>
          <p:cNvSpPr txBox="1"/>
          <p:nvPr/>
        </p:nvSpPr>
        <p:spPr>
          <a:xfrm>
            <a:off x="557967" y="3949107"/>
            <a:ext cx="1156668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离散数学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1A1F05-9F01-4C1C-B61D-806B28556AEC}"/>
              </a:ext>
            </a:extLst>
          </p:cNvPr>
          <p:cNvSpPr txBox="1"/>
          <p:nvPr/>
        </p:nvSpPr>
        <p:spPr>
          <a:xfrm>
            <a:off x="557967" y="4385190"/>
            <a:ext cx="1156668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…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EC9F3D9-CE9D-4FA5-A315-4B4A64BC6140}"/>
              </a:ext>
            </a:extLst>
          </p:cNvPr>
          <p:cNvSpPr txBox="1"/>
          <p:nvPr/>
        </p:nvSpPr>
        <p:spPr>
          <a:xfrm>
            <a:off x="557967" y="3067179"/>
            <a:ext cx="1156668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抽象代数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D9D9A68-3DA1-4CAA-84CC-6B6F223356B8}"/>
              </a:ext>
            </a:extLst>
          </p:cNvPr>
          <p:cNvSpPr txBox="1"/>
          <p:nvPr/>
        </p:nvSpPr>
        <p:spPr>
          <a:xfrm>
            <a:off x="557967" y="3503262"/>
            <a:ext cx="1156668" cy="37997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数理逻辑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79C35F-F105-4D50-8708-36825FA91653}"/>
              </a:ext>
            </a:extLst>
          </p:cNvPr>
          <p:cNvSpPr txBox="1"/>
          <p:nvPr/>
        </p:nvSpPr>
        <p:spPr>
          <a:xfrm>
            <a:off x="1889340" y="1634181"/>
            <a:ext cx="418520" cy="2842127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计算理论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3FA49AF-C8BF-42B7-A0E7-C0AD5B4DDC50}"/>
              </a:ext>
            </a:extLst>
          </p:cNvPr>
          <p:cNvSpPr/>
          <p:nvPr/>
        </p:nvSpPr>
        <p:spPr>
          <a:xfrm>
            <a:off x="1792637" y="1485320"/>
            <a:ext cx="5905334" cy="31284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n-cs"/>
              <a:sym typeface="Arial"/>
            </a:endParaRPr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37C3317B-FD9E-4ECA-B54C-7EC107800A80}"/>
              </a:ext>
            </a:extLst>
          </p:cNvPr>
          <p:cNvSpPr/>
          <p:nvPr/>
        </p:nvSpPr>
        <p:spPr>
          <a:xfrm>
            <a:off x="7751133" y="4137754"/>
            <a:ext cx="270295" cy="476020"/>
          </a:xfrm>
          <a:prstGeom prst="rightBrace">
            <a:avLst>
              <a:gd name="adj1" fmla="val 47670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n-cs"/>
              <a:sym typeface="Arial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6DFE226-49C0-42B7-8473-AE988E8047BE}"/>
              </a:ext>
            </a:extLst>
          </p:cNvPr>
          <p:cNvSpPr txBox="1"/>
          <p:nvPr/>
        </p:nvSpPr>
        <p:spPr>
          <a:xfrm>
            <a:off x="8016851" y="4114154"/>
            <a:ext cx="454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dirty="0"/>
              <a:t>硬件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右大括号 35">
            <a:extLst>
              <a:ext uri="{FF2B5EF4-FFF2-40B4-BE49-F238E27FC236}">
                <a16:creationId xmlns:a16="http://schemas.microsoft.com/office/drawing/2014/main" id="{0B67A438-D626-45E6-AF01-23D09417706D}"/>
              </a:ext>
            </a:extLst>
          </p:cNvPr>
          <p:cNvSpPr/>
          <p:nvPr/>
        </p:nvSpPr>
        <p:spPr>
          <a:xfrm>
            <a:off x="7754931" y="1488047"/>
            <a:ext cx="270295" cy="2562957"/>
          </a:xfrm>
          <a:prstGeom prst="rightBrace">
            <a:avLst>
              <a:gd name="adj1" fmla="val 47670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n-cs"/>
              <a:sym typeface="Arial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DA04540-7CDB-4FA2-89E4-E7CDDAAE0D9D}"/>
              </a:ext>
            </a:extLst>
          </p:cNvPr>
          <p:cNvSpPr txBox="1"/>
          <p:nvPr/>
        </p:nvSpPr>
        <p:spPr>
          <a:xfrm>
            <a:off x="8016204" y="2526327"/>
            <a:ext cx="45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软件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204A7D6-097E-4F8F-83ED-775980F3A399}"/>
              </a:ext>
            </a:extLst>
          </p:cNvPr>
          <p:cNvCxnSpPr/>
          <p:nvPr/>
        </p:nvCxnSpPr>
        <p:spPr>
          <a:xfrm>
            <a:off x="2466753" y="4113473"/>
            <a:ext cx="6018028" cy="0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175;p23">
            <a:extLst>
              <a:ext uri="{FF2B5EF4-FFF2-40B4-BE49-F238E27FC236}">
                <a16:creationId xmlns:a16="http://schemas.microsoft.com/office/drawing/2014/main" id="{DD32BFB0-97CA-41B5-8039-B87AF4E381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Roboto"/>
                <a:ea typeface="Roboto"/>
                <a:cs typeface="Roboto"/>
                <a:sym typeface="Roboto"/>
              </a:rPr>
              <a:t>What is Computer Science?</a:t>
            </a:r>
            <a:endParaRPr sz="3200"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039018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Roboto"/>
                <a:ea typeface="Roboto"/>
                <a:cs typeface="Roboto"/>
                <a:sym typeface="Roboto"/>
              </a:rPr>
              <a:t>What is </a:t>
            </a:r>
            <a:r>
              <a:rPr lang="en-US" altLang="zh-CN" sz="3200" dirty="0">
                <a:latin typeface="Roboto"/>
                <a:ea typeface="Roboto"/>
                <a:cs typeface="Roboto"/>
                <a:sym typeface="Roboto"/>
              </a:rPr>
              <a:t>this course </a:t>
            </a:r>
            <a:r>
              <a:rPr lang="en" sz="3200" dirty="0">
                <a:latin typeface="Roboto"/>
                <a:ea typeface="Roboto"/>
                <a:cs typeface="Roboto"/>
                <a:sym typeface="Roboto"/>
              </a:rPr>
              <a:t>about?</a:t>
            </a:r>
            <a:endParaRPr sz="3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buFont typeface="Roboto"/>
              <a:buChar char="●"/>
            </a:pPr>
            <a:r>
              <a:rPr lang="en-US" altLang="zh-CN" sz="2000" dirty="0">
                <a:latin typeface="Roboto"/>
                <a:ea typeface="Roboto"/>
                <a:cs typeface="Roboto"/>
                <a:sym typeface="Roboto"/>
              </a:rPr>
              <a:t>Introduction to Programming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Roboto"/>
              <a:buChar char="○"/>
            </a:pPr>
            <a:r>
              <a:rPr lang="en-US" altLang="zh-CN" sz="1600" dirty="0">
                <a:latin typeface="Roboto"/>
                <a:ea typeface="Roboto"/>
                <a:cs typeface="Roboto"/>
                <a:sym typeface="Roboto"/>
              </a:rPr>
              <a:t>Full understanding of Python fundamentals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Roboto"/>
              <a:buChar char="○"/>
            </a:pPr>
            <a:r>
              <a:rPr lang="en-US" altLang="zh-CN" sz="1600" dirty="0">
                <a:latin typeface="Roboto"/>
                <a:ea typeface="Roboto"/>
                <a:cs typeface="Roboto"/>
                <a:sym typeface="Roboto"/>
              </a:rPr>
              <a:t>Combining multiple ideas in large projects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Roboto"/>
              <a:buChar char="○"/>
            </a:pPr>
            <a:r>
              <a:rPr lang="en-US" altLang="zh-CN" sz="1600" dirty="0">
                <a:latin typeface="Roboto"/>
                <a:ea typeface="Roboto"/>
                <a:cs typeface="Roboto"/>
                <a:sym typeface="Roboto"/>
              </a:rPr>
              <a:t>How computers interpret programming languages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Roboto"/>
              <a:buChar char="○"/>
            </a:pPr>
            <a:r>
              <a:rPr lang="en-US" altLang="zh-CN" sz="1600" dirty="0">
                <a:latin typeface="Roboto"/>
                <a:ea typeface="Roboto"/>
                <a:cs typeface="Roboto"/>
                <a:sym typeface="Roboto"/>
              </a:rPr>
              <a:t>More …</a:t>
            </a:r>
          </a:p>
        </p:txBody>
      </p:sp>
    </p:spTree>
    <p:extLst>
      <p:ext uri="{BB962C8B-B14F-4D97-AF65-F5344CB8AC3E}">
        <p14:creationId xmlns:p14="http://schemas.microsoft.com/office/powerpoint/2010/main" val="339062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Roboto"/>
                <a:ea typeface="Roboto"/>
                <a:cs typeface="Roboto"/>
                <a:sym typeface="Roboto"/>
              </a:rPr>
              <a:t>What is </a:t>
            </a:r>
            <a:r>
              <a:rPr lang="en-US" altLang="zh-CN" sz="3200" dirty="0">
                <a:latin typeface="Roboto"/>
                <a:ea typeface="Roboto"/>
                <a:cs typeface="Roboto"/>
                <a:sym typeface="Roboto"/>
              </a:rPr>
              <a:t>this course </a:t>
            </a:r>
            <a:r>
              <a:rPr lang="en" sz="3200" dirty="0">
                <a:latin typeface="Roboto"/>
                <a:ea typeface="Roboto"/>
                <a:cs typeface="Roboto"/>
                <a:sym typeface="Roboto"/>
              </a:rPr>
              <a:t>about?</a:t>
            </a:r>
            <a:endParaRPr sz="3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Introduction to Programming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Managing Complexity</a:t>
            </a:r>
            <a:endParaRPr sz="2000" dirty="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 sz="1600" dirty="0">
                <a:latin typeface="Roboto"/>
                <a:ea typeface="Roboto"/>
                <a:cs typeface="Roboto"/>
                <a:sym typeface="Roboto"/>
              </a:rPr>
              <a:t>Mastering </a:t>
            </a:r>
            <a:r>
              <a:rPr lang="en" sz="1600" b="1" dirty="0">
                <a:latin typeface="Roboto"/>
                <a:ea typeface="Roboto"/>
                <a:cs typeface="Roboto"/>
                <a:sym typeface="Roboto"/>
              </a:rPr>
              <a:t>Abstraction</a:t>
            </a:r>
            <a:endParaRPr sz="1600" b="1" dirty="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21DE952-E241-4288-B47F-781F57546A78}"/>
              </a:ext>
            </a:extLst>
          </p:cNvPr>
          <p:cNvGrpSpPr/>
          <p:nvPr/>
        </p:nvGrpSpPr>
        <p:grpSpPr>
          <a:xfrm>
            <a:off x="2223339" y="2473985"/>
            <a:ext cx="6879475" cy="2621287"/>
            <a:chOff x="1563832" y="2086040"/>
            <a:chExt cx="7330108" cy="2944250"/>
          </a:xfrm>
        </p:grpSpPr>
        <p:pic>
          <p:nvPicPr>
            <p:cNvPr id="4" name="图片 5">
              <a:extLst>
                <a:ext uri="{FF2B5EF4-FFF2-40B4-BE49-F238E27FC236}">
                  <a16:creationId xmlns:a16="http://schemas.microsoft.com/office/drawing/2014/main" id="{067A25C1-7D21-4D33-AE9F-9A22687C5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1856" y="2086040"/>
              <a:ext cx="3402084" cy="294425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图片 6">
              <a:extLst>
                <a:ext uri="{FF2B5EF4-FFF2-40B4-BE49-F238E27FC236}">
                  <a16:creationId xmlns:a16="http://schemas.microsoft.com/office/drawing/2014/main" id="{6EFC4802-A004-42DD-97DC-413ACC2B2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3832" y="2129672"/>
              <a:ext cx="3319602" cy="285698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Roboto"/>
                <a:ea typeface="Roboto"/>
                <a:cs typeface="Roboto"/>
                <a:sym typeface="Roboto"/>
              </a:rPr>
              <a:t>What is </a:t>
            </a:r>
            <a:r>
              <a:rPr lang="en-US" altLang="zh-CN" sz="3200" dirty="0">
                <a:latin typeface="Roboto"/>
                <a:ea typeface="Roboto"/>
                <a:cs typeface="Roboto"/>
                <a:sym typeface="Roboto"/>
              </a:rPr>
              <a:t>this course </a:t>
            </a:r>
            <a:r>
              <a:rPr lang="en" sz="3200" dirty="0">
                <a:latin typeface="Roboto"/>
                <a:ea typeface="Roboto"/>
                <a:cs typeface="Roboto"/>
                <a:sym typeface="Roboto"/>
              </a:rPr>
              <a:t>about?</a:t>
            </a:r>
            <a:endParaRPr sz="3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buFont typeface="Roboto"/>
              <a:buChar char="●"/>
            </a:pPr>
            <a:r>
              <a:rPr lang="en-US" altLang="zh-CN" sz="2000" dirty="0">
                <a:latin typeface="Roboto"/>
                <a:ea typeface="Roboto"/>
                <a:cs typeface="Roboto"/>
                <a:sym typeface="Roboto"/>
              </a:rPr>
              <a:t>Introduction to Programming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Managing Complexity</a:t>
            </a:r>
            <a:endParaRPr sz="2000" dirty="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 sz="1600" dirty="0">
                <a:latin typeface="Roboto"/>
                <a:ea typeface="Roboto"/>
                <a:cs typeface="Roboto"/>
                <a:sym typeface="Roboto"/>
              </a:rPr>
              <a:t>Mastering Abstraction</a:t>
            </a:r>
            <a:endParaRPr sz="1600" dirty="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 sz="1600" dirty="0">
                <a:latin typeface="Roboto"/>
                <a:ea typeface="Roboto"/>
                <a:cs typeface="Roboto"/>
                <a:sym typeface="Roboto"/>
              </a:rPr>
              <a:t>Programming Paradigms</a:t>
            </a: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endParaRPr lang="en" sz="1600" dirty="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endParaRPr sz="16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图片 2" descr="图标&#10;&#10;描述已自动生成">
            <a:extLst>
              <a:ext uri="{FF2B5EF4-FFF2-40B4-BE49-F238E27FC236}">
                <a16:creationId xmlns:a16="http://schemas.microsoft.com/office/drawing/2014/main" id="{03F0DF9B-F6DE-4849-B2A0-F6BA380AB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879" y="2405186"/>
            <a:ext cx="1047957" cy="1071661"/>
          </a:xfrm>
          <a:prstGeom prst="rect">
            <a:avLst/>
          </a:prstGeom>
        </p:spPr>
      </p:pic>
      <p:pic>
        <p:nvPicPr>
          <p:cNvPr id="5" name="图片 4" descr="图片包含 游戏机, 画&#10;&#10;描述已自动生成">
            <a:extLst>
              <a:ext uri="{FF2B5EF4-FFF2-40B4-BE49-F238E27FC236}">
                <a16:creationId xmlns:a16="http://schemas.microsoft.com/office/drawing/2014/main" id="{AF370280-958D-454D-B813-415D6B2BB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525" y="2405185"/>
            <a:ext cx="1085762" cy="1071661"/>
          </a:xfrm>
          <a:prstGeom prst="rect">
            <a:avLst/>
          </a:prstGeom>
        </p:spPr>
      </p:pic>
      <p:pic>
        <p:nvPicPr>
          <p:cNvPr id="9" name="图片 8" descr="徽标, 图标&#10;&#10;描述已自动生成">
            <a:extLst>
              <a:ext uri="{FF2B5EF4-FFF2-40B4-BE49-F238E27FC236}">
                <a16:creationId xmlns:a16="http://schemas.microsoft.com/office/drawing/2014/main" id="{DFF492DA-F154-4EDE-B888-C46AC11A51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495" y="2405185"/>
            <a:ext cx="1301711" cy="108793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08676B2-3D15-4A1A-A836-52D5727E65CC}"/>
              </a:ext>
            </a:extLst>
          </p:cNvPr>
          <p:cNvSpPr txBox="1"/>
          <p:nvPr/>
        </p:nvSpPr>
        <p:spPr>
          <a:xfrm>
            <a:off x="4293886" y="3561194"/>
            <a:ext cx="1684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Python </a:t>
            </a:r>
          </a:p>
          <a:p>
            <a:r>
              <a:rPr lang="en-US" altLang="zh-CN" dirty="0"/>
              <a:t>– Multi-Paradigm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46FE-DAD6-45F4-B01F-2A7B1306F3B5}"/>
              </a:ext>
            </a:extLst>
          </p:cNvPr>
          <p:cNvSpPr txBox="1"/>
          <p:nvPr/>
        </p:nvSpPr>
        <p:spPr>
          <a:xfrm>
            <a:off x="6142179" y="3561194"/>
            <a:ext cx="12580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Scheme </a:t>
            </a:r>
          </a:p>
          <a:p>
            <a:r>
              <a:rPr lang="en-US" altLang="zh-CN" dirty="0"/>
              <a:t>– Functional</a:t>
            </a:r>
          </a:p>
          <a:p>
            <a:r>
              <a:rPr lang="en-US" altLang="zh-CN" dirty="0"/>
              <a:t>– Lang. Interpretation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FEF33CC-0D1C-4DE9-A2FB-3E763366AB2F}"/>
              </a:ext>
            </a:extLst>
          </p:cNvPr>
          <p:cNvSpPr txBox="1"/>
          <p:nvPr/>
        </p:nvSpPr>
        <p:spPr>
          <a:xfrm>
            <a:off x="7656045" y="3561194"/>
            <a:ext cx="12580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SQL</a:t>
            </a:r>
          </a:p>
          <a:p>
            <a:r>
              <a:rPr lang="en-US" altLang="zh-CN" dirty="0"/>
              <a:t>– DSL</a:t>
            </a:r>
          </a:p>
          <a:p>
            <a:r>
              <a:rPr lang="en-US" altLang="zh-CN" dirty="0"/>
              <a:t>– Declarative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467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Roboto"/>
                <a:ea typeface="Roboto"/>
                <a:cs typeface="Roboto"/>
                <a:sym typeface="Roboto"/>
              </a:rPr>
              <a:t>What is </a:t>
            </a:r>
            <a:r>
              <a:rPr lang="en-US" altLang="zh-CN" sz="3200" dirty="0">
                <a:latin typeface="Roboto"/>
                <a:ea typeface="Roboto"/>
                <a:cs typeface="Roboto"/>
                <a:sym typeface="Roboto"/>
              </a:rPr>
              <a:t>this course </a:t>
            </a:r>
            <a:r>
              <a:rPr lang="en" sz="3200" dirty="0">
                <a:latin typeface="Roboto"/>
                <a:ea typeface="Roboto"/>
                <a:cs typeface="Roboto"/>
                <a:sym typeface="Roboto"/>
              </a:rPr>
              <a:t>about?</a:t>
            </a:r>
            <a:endParaRPr sz="3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buFont typeface="Roboto"/>
              <a:buChar char="●"/>
            </a:pPr>
            <a:r>
              <a:rPr lang="en-US" altLang="zh-CN" sz="2000" dirty="0">
                <a:latin typeface="Roboto"/>
                <a:ea typeface="Roboto"/>
                <a:cs typeface="Roboto"/>
                <a:sym typeface="Roboto"/>
              </a:rPr>
              <a:t>Introduction to Programming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Managing Complexity</a:t>
            </a:r>
            <a:endParaRPr sz="2000" dirty="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 sz="1600" dirty="0">
                <a:latin typeface="Roboto"/>
                <a:ea typeface="Roboto"/>
                <a:cs typeface="Roboto"/>
                <a:sym typeface="Roboto"/>
              </a:rPr>
              <a:t>Mastering Abstraction</a:t>
            </a:r>
            <a:endParaRPr sz="1600" dirty="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 sz="1600" dirty="0">
                <a:latin typeface="Roboto"/>
                <a:ea typeface="Roboto"/>
                <a:cs typeface="Roboto"/>
                <a:sym typeface="Roboto"/>
              </a:rPr>
              <a:t>Programming Paradigms</a:t>
            </a: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endParaRPr lang="en" sz="1600" dirty="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endParaRPr sz="16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A challenging course that will demand a lot from you</a:t>
            </a:r>
            <a:endParaRPr sz="2000"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020854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Roboto"/>
                <a:ea typeface="Roboto"/>
                <a:cs typeface="Roboto"/>
                <a:sym typeface="Roboto"/>
              </a:rPr>
              <a:t>Alternative to this course</a:t>
            </a:r>
            <a:endParaRPr sz="3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Roboto"/>
                <a:sym typeface="Roboto"/>
              </a:rPr>
              <a:t>程序设计基础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Roboto"/>
              <a:sym typeface="Roboto"/>
            </a:endParaRPr>
          </a:p>
          <a:p>
            <a:pPr lvl="1" indent="-342900">
              <a:lnSpc>
                <a:spcPct val="150000"/>
              </a:lnSpc>
              <a:spcBef>
                <a:spcPts val="0"/>
              </a:spcBef>
              <a:buSzPts val="1800"/>
              <a:buFont typeface="Roboto"/>
              <a:buChar char="●"/>
            </a:pPr>
            <a:r>
              <a:rPr lang="en-US" altLang="zh-CN" sz="1600" dirty="0">
                <a:latin typeface="Roboto"/>
                <a:ea typeface="Roboto"/>
                <a:cs typeface="Roboto"/>
                <a:sym typeface="Roboto"/>
              </a:rPr>
              <a:t>Programming in C</a:t>
            </a:r>
          </a:p>
          <a:p>
            <a:pPr lvl="1" indent="-342900">
              <a:lnSpc>
                <a:spcPct val="150000"/>
              </a:lnSpc>
              <a:spcBef>
                <a:spcPts val="0"/>
              </a:spcBef>
              <a:buSzPts val="1800"/>
              <a:buFont typeface="Roboto"/>
              <a:buChar char="●"/>
            </a:pPr>
            <a:r>
              <a:rPr lang="en-US" sz="1600" dirty="0">
                <a:latin typeface="Roboto"/>
                <a:ea typeface="Roboto"/>
                <a:cs typeface="Roboto"/>
                <a:sym typeface="Roboto"/>
              </a:rPr>
              <a:t>Similar goals, different textbooks and languages</a:t>
            </a:r>
            <a:endParaRPr sz="1600"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985487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FF3D6F-ABDD-4D85-83FF-DEF5D937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D3546C-3DC5-450D-AA89-893FD8893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90C8BD2-7934-4B33-A31E-E09467207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79" y="0"/>
            <a:ext cx="7771841" cy="51435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DDBBDEF-54D8-4237-96F9-3FC1BF7E3B0E}"/>
              </a:ext>
            </a:extLst>
          </p:cNvPr>
          <p:cNvSpPr/>
          <p:nvPr/>
        </p:nvSpPr>
        <p:spPr>
          <a:xfrm>
            <a:off x="1742930" y="3057441"/>
            <a:ext cx="4572000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r>
              <a:rPr lang="zh-CN" altLang="en-US" b="1" dirty="0"/>
              <a:t>https://en.wikipedia.org/wiki/Structure_and_Interpretation_of_Computer_Programs</a:t>
            </a:r>
          </a:p>
        </p:txBody>
      </p:sp>
    </p:spTree>
    <p:extLst>
      <p:ext uri="{BB962C8B-B14F-4D97-AF65-F5344CB8AC3E}">
        <p14:creationId xmlns:p14="http://schemas.microsoft.com/office/powerpoint/2010/main" val="3217468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0D309-6141-4E7F-A478-78C807527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This Course: A Clone of BerkeleyCS61A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78AE44-ED1C-497A-8796-7EFC07B0D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3624565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r>
              <a:rPr lang="zh-CN" altLang="en-US" dirty="0"/>
              <a:t>教材：</a:t>
            </a:r>
            <a:r>
              <a:rPr lang="en-US" altLang="zh-CN" dirty="0"/>
              <a:t> Composing Programs</a:t>
            </a:r>
            <a:r>
              <a:rPr lang="zh-CN" altLang="en-US" dirty="0"/>
              <a:t>，</a:t>
            </a:r>
            <a:r>
              <a:rPr lang="en-US" altLang="zh-CN" dirty="0"/>
              <a:t>SICP</a:t>
            </a:r>
            <a:r>
              <a:rPr lang="zh-CN" altLang="en-US" dirty="0"/>
              <a:t>的</a:t>
            </a:r>
            <a:r>
              <a:rPr lang="en-US" altLang="zh-CN" dirty="0"/>
              <a:t>Python</a:t>
            </a:r>
            <a:r>
              <a:rPr lang="zh-CN" altLang="en-US" dirty="0"/>
              <a:t>版</a:t>
            </a:r>
            <a:endParaRPr lang="en-US" altLang="zh-CN" dirty="0"/>
          </a:p>
          <a:p>
            <a:pPr lvl="1"/>
            <a:r>
              <a:rPr lang="en-US" altLang="zh-CN" dirty="0">
                <a:hlinkClick r:id="rId2"/>
              </a:rPr>
              <a:t>https://composingprograms.com/</a:t>
            </a:r>
            <a:endParaRPr lang="zh-CN" altLang="en-US" dirty="0"/>
          </a:p>
          <a:p>
            <a:r>
              <a:rPr lang="zh-CN" altLang="en-US" dirty="0"/>
              <a:t>全美最受欢迎的</a:t>
            </a:r>
            <a:r>
              <a:rPr lang="en-US" altLang="zh-CN" dirty="0"/>
              <a:t>5</a:t>
            </a:r>
            <a:r>
              <a:rPr lang="zh-CN" altLang="en-US" dirty="0"/>
              <a:t>门计算机课程之一</a:t>
            </a:r>
            <a:endParaRPr lang="en-US" altLang="zh-CN" dirty="0"/>
          </a:p>
          <a:p>
            <a:r>
              <a:rPr lang="zh-CN" altLang="en-US" dirty="0"/>
              <a:t>四个精心设计的</a:t>
            </a:r>
            <a:r>
              <a:rPr lang="en-US" altLang="zh-CN" dirty="0"/>
              <a:t>Projects</a:t>
            </a:r>
          </a:p>
          <a:p>
            <a:pPr lvl="1"/>
            <a:r>
              <a:rPr lang="zh-CN" altLang="en-US" dirty="0"/>
              <a:t>掷骰子游戏</a:t>
            </a:r>
            <a:endParaRPr lang="en-US" altLang="zh-CN" dirty="0"/>
          </a:p>
          <a:p>
            <a:pPr lvl="1"/>
            <a:r>
              <a:rPr lang="zh-CN" altLang="en-US" dirty="0"/>
              <a:t>测打字速度并查错纠错</a:t>
            </a:r>
            <a:endParaRPr lang="en-US" altLang="zh-CN" dirty="0"/>
          </a:p>
          <a:p>
            <a:pPr lvl="1"/>
            <a:r>
              <a:rPr lang="zh-CN" altLang="en-US" dirty="0"/>
              <a:t>蚂蚁大战蜜蜂游戏、</a:t>
            </a:r>
            <a:endParaRPr lang="en-US" altLang="zh-CN" dirty="0"/>
          </a:p>
          <a:p>
            <a:pPr lvl="1"/>
            <a:r>
              <a:rPr lang="en-US" altLang="zh-CN" dirty="0"/>
              <a:t>Scheme</a:t>
            </a:r>
            <a:r>
              <a:rPr lang="zh-CN" altLang="en-US" dirty="0"/>
              <a:t>（子集）的解释器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C63E30-899E-441B-BC03-BAA10788792A}"/>
              </a:ext>
            </a:extLst>
          </p:cNvPr>
          <p:cNvSpPr/>
          <p:nvPr/>
        </p:nvSpPr>
        <p:spPr>
          <a:xfrm>
            <a:off x="5692001" y="1022966"/>
            <a:ext cx="18854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/>
              <a:t>https://cs61a.org/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E728C-46DA-4D56-AB6A-4335BBF6931B}"/>
              </a:ext>
            </a:extLst>
          </p:cNvPr>
          <p:cNvSpPr/>
          <p:nvPr/>
        </p:nvSpPr>
        <p:spPr>
          <a:xfrm>
            <a:off x="5704219" y="1323784"/>
            <a:ext cx="3347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https://cs61a.org/resources.html#advice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E85760-1E96-4CCC-BA1C-48259D114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914" y="1617116"/>
            <a:ext cx="1709688" cy="163016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3742499-C8C1-479E-A6BB-E5845A131A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989" y="3455788"/>
            <a:ext cx="1329491" cy="132949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4AEBFCE-2ABB-4D60-99E1-7A198635BD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013" y="2820571"/>
            <a:ext cx="3327175" cy="204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30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B0A3AC0-4563-4755-85C4-86D452470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22" y="174261"/>
            <a:ext cx="5936911" cy="23974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DE9077A-E257-4550-BDED-217E9FD1D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339" y="1804970"/>
            <a:ext cx="4945939" cy="32306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8082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Course Info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508550" y="3356350"/>
            <a:ext cx="5753700" cy="16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homework assignments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programming projects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A midterm and a final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Lots of course support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9"/>
          <p:cNvSpPr txBox="1"/>
          <p:nvPr/>
        </p:nvSpPr>
        <p:spPr>
          <a:xfrm>
            <a:off x="400350" y="1199500"/>
            <a:ext cx="5070104" cy="70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Lecture: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Roboto"/>
                <a:sym typeface="Roboto"/>
              </a:rPr>
              <a:t>周一，</a:t>
            </a:r>
            <a:r>
              <a:rPr lang="en" altLang="zh-CN" dirty="0">
                <a:latin typeface="等线" panose="02010600030101010101" pitchFamily="2" charset="-122"/>
                <a:ea typeface="等线" panose="02010600030101010101" pitchFamily="2" charset="-122"/>
                <a:cs typeface="Roboto"/>
                <a:sym typeface="Roboto"/>
              </a:rPr>
              <a:t>3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Roboto"/>
                <a:sym typeface="Roboto"/>
              </a:rPr>
              <a:t>、</a:t>
            </a:r>
            <a:r>
              <a:rPr lang="en" dirty="0">
                <a:latin typeface="等线" panose="02010600030101010101" pitchFamily="2" charset="-122"/>
                <a:ea typeface="等线" panose="02010600030101010101" pitchFamily="2" charset="-122"/>
                <a:cs typeface="Roboto"/>
                <a:sym typeface="Roboto"/>
              </a:rPr>
              <a:t>4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Roboto"/>
                <a:sym typeface="Roboto"/>
              </a:rPr>
              <a:t>节，</a:t>
            </a:r>
            <a:r>
              <a:rPr lang="zh-CN" altLang="en-US" dirty="0">
                <a:latin typeface="Roboto"/>
                <a:ea typeface="Roboto"/>
                <a:cs typeface="Roboto"/>
                <a:sym typeface="Roboto"/>
              </a:rPr>
              <a:t>费</a:t>
            </a:r>
            <a:r>
              <a:rPr lang="en-US" altLang="zh-CN" dirty="0">
                <a:latin typeface="Roboto"/>
                <a:ea typeface="Roboto"/>
                <a:cs typeface="Roboto"/>
                <a:sym typeface="Roboto"/>
              </a:rPr>
              <a:t>A202</a:t>
            </a:r>
          </a:p>
          <a:p>
            <a:pPr lvl="0"/>
            <a:r>
              <a:rPr lang="zh-CN" altLang="en-US" dirty="0">
                <a:latin typeface="Roboto"/>
                <a:ea typeface="Roboto"/>
                <a:cs typeface="Roboto"/>
                <a:sym typeface="Roboto"/>
              </a:rPr>
              <a:t>           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Roboto"/>
                <a:sym typeface="Roboto"/>
              </a:rPr>
              <a:t>周三，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Roboto"/>
                <a:sym typeface="Roboto"/>
              </a:rPr>
              <a:t>9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Roboto"/>
                <a:sym typeface="Roboto"/>
              </a:rPr>
              <a:t>、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Roboto"/>
                <a:sym typeface="Roboto"/>
              </a:rPr>
              <a:t>10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Roboto"/>
                <a:sym typeface="Roboto"/>
              </a:rPr>
              <a:t>节，</a:t>
            </a:r>
            <a:r>
              <a:rPr lang="zh-CN" altLang="en-US" dirty="0">
                <a:latin typeface="Roboto"/>
                <a:ea typeface="Roboto"/>
                <a:cs typeface="Roboto"/>
                <a:sym typeface="Roboto"/>
              </a:rPr>
              <a:t>费</a:t>
            </a:r>
            <a:r>
              <a:rPr lang="en-US" altLang="zh-CN" dirty="0">
                <a:latin typeface="Roboto"/>
                <a:ea typeface="Roboto"/>
                <a:cs typeface="Roboto"/>
                <a:sym typeface="Roboto"/>
              </a:rPr>
              <a:t>A202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400349" y="1778509"/>
            <a:ext cx="4745809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Lab section: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Roboto"/>
                <a:sym typeface="Roboto"/>
              </a:rPr>
              <a:t>周一，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Roboto"/>
                <a:sym typeface="Roboto"/>
              </a:rPr>
              <a:t>5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Roboto"/>
                <a:sym typeface="Roboto"/>
              </a:rPr>
              <a:t>、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Roboto"/>
                <a:sym typeface="Roboto"/>
              </a:rPr>
              <a:t>6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Roboto"/>
                <a:sym typeface="Roboto"/>
              </a:rPr>
              <a:t>节，南园综合楼</a:t>
            </a:r>
            <a:r>
              <a:rPr lang="en-US" altLang="zh-CN" dirty="0">
                <a:latin typeface="Roboto"/>
                <a:ea typeface="Roboto"/>
                <a:cs typeface="Roboto"/>
                <a:sym typeface="Roboto"/>
              </a:rPr>
              <a:t>502</a:t>
            </a:r>
            <a:r>
              <a:rPr lang="zh-CN" altLang="en-US" dirty="0">
                <a:latin typeface="Roboto"/>
                <a:ea typeface="Roboto"/>
                <a:cs typeface="Roboto"/>
                <a:sym typeface="Roboto"/>
              </a:rPr>
              <a:t>、</a:t>
            </a:r>
            <a:r>
              <a:rPr lang="en-US" altLang="zh-CN" dirty="0">
                <a:latin typeface="Roboto"/>
                <a:ea typeface="Roboto"/>
                <a:cs typeface="Roboto"/>
                <a:sym typeface="Roboto"/>
              </a:rPr>
              <a:t>503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9"/>
          <p:cNvSpPr txBox="1"/>
          <p:nvPr/>
        </p:nvSpPr>
        <p:spPr>
          <a:xfrm>
            <a:off x="392300" y="2313875"/>
            <a:ext cx="8100" cy="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400350" y="2714922"/>
            <a:ext cx="18153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Online textbook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2254425" y="2695922"/>
            <a:ext cx="41919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https://www.composingprograms.com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Google Shape;216;p29">
            <a:extLst>
              <a:ext uri="{FF2B5EF4-FFF2-40B4-BE49-F238E27FC236}">
                <a16:creationId xmlns:a16="http://schemas.microsoft.com/office/drawing/2014/main" id="{610AD4C3-0A13-4EE3-82B7-651CCFBE338B}"/>
              </a:ext>
            </a:extLst>
          </p:cNvPr>
          <p:cNvSpPr txBox="1"/>
          <p:nvPr/>
        </p:nvSpPr>
        <p:spPr>
          <a:xfrm>
            <a:off x="400400" y="2317947"/>
            <a:ext cx="18153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Course webpage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Google Shape;221;p29">
            <a:extLst>
              <a:ext uri="{FF2B5EF4-FFF2-40B4-BE49-F238E27FC236}">
                <a16:creationId xmlns:a16="http://schemas.microsoft.com/office/drawing/2014/main" id="{F35D274C-DB6A-4927-A8C5-421531EF5CD2}"/>
              </a:ext>
            </a:extLst>
          </p:cNvPr>
          <p:cNvSpPr txBox="1"/>
          <p:nvPr/>
        </p:nvSpPr>
        <p:spPr>
          <a:xfrm>
            <a:off x="2254474" y="2298947"/>
            <a:ext cx="4336669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CN" b="0" i="0" dirty="0">
                <a:solidFill>
                  <a:srgbClr val="80808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 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https://sicp.pascal-lab.net/2026</a:t>
            </a:r>
            <a:endParaRPr lang="en-US" altLang="zh-CN" b="0" i="0" dirty="0">
              <a:solidFill>
                <a:srgbClr val="80808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endParaRPr lang="en-US" altLang="zh-CN" b="0" i="0" dirty="0">
              <a:solidFill>
                <a:srgbClr val="80808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B1216E8A-8E18-3D39-A951-2A91A75AC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294" y="1570375"/>
            <a:ext cx="1008648" cy="1412517"/>
          </a:xfrm>
          <a:prstGeom prst="rect">
            <a:avLst/>
          </a:prstGeom>
        </p:spPr>
      </p:pic>
      <p:sp>
        <p:nvSpPr>
          <p:cNvPr id="209" name="Google Shape;20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Course Info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3CD376C-D353-C353-93D6-DEB14F7D6A22}"/>
              </a:ext>
            </a:extLst>
          </p:cNvPr>
          <p:cNvSpPr txBox="1"/>
          <p:nvPr/>
        </p:nvSpPr>
        <p:spPr>
          <a:xfrm>
            <a:off x="1678281" y="1015999"/>
            <a:ext cx="5990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Lecturers: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冯新宇：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https://cs.nju.edu.cn/xyfeng/index.htm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李樾：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https://cs.nju.edu.cn/yueli/index.htm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F9BCCB-5697-11E0-2E19-4C5372AA5CE0}"/>
              </a:ext>
            </a:extLst>
          </p:cNvPr>
          <p:cNvSpPr txBox="1"/>
          <p:nvPr/>
        </p:nvSpPr>
        <p:spPr>
          <a:xfrm>
            <a:off x="1678280" y="1631869"/>
            <a:ext cx="609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TAs: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90B81B-923C-62B4-D019-7B2118008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3946" y="1785757"/>
            <a:ext cx="1007290" cy="11100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4DD9502-9348-92E7-7BDF-373266F1D6D3}"/>
              </a:ext>
            </a:extLst>
          </p:cNvPr>
          <p:cNvSpPr txBox="1"/>
          <p:nvPr/>
        </p:nvSpPr>
        <p:spPr>
          <a:xfrm>
            <a:off x="2456035" y="2899516"/>
            <a:ext cx="903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崔家才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9F0C9D-991D-3F80-F4F3-C03BF3C9F296}"/>
              </a:ext>
            </a:extLst>
          </p:cNvPr>
          <p:cNvSpPr txBox="1"/>
          <p:nvPr/>
        </p:nvSpPr>
        <p:spPr>
          <a:xfrm>
            <a:off x="5912830" y="2989644"/>
            <a:ext cx="903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林吟风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92ED6E2-220F-C077-D0A2-E01675B10332}"/>
              </a:ext>
            </a:extLst>
          </p:cNvPr>
          <p:cNvSpPr txBox="1"/>
          <p:nvPr/>
        </p:nvSpPr>
        <p:spPr>
          <a:xfrm>
            <a:off x="5295028" y="4783007"/>
            <a:ext cx="903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张乃仁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D99EF1-F1B0-0F33-F7DF-CD8057310C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5296" y="3363557"/>
            <a:ext cx="1043962" cy="13926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0FA2866-6E55-5B83-03B1-C91666413F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4435" y="1785756"/>
            <a:ext cx="949659" cy="111007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DABE081-AF8F-E80C-A4E8-6051A6BE4254}"/>
              </a:ext>
            </a:extLst>
          </p:cNvPr>
          <p:cNvSpPr txBox="1"/>
          <p:nvPr/>
        </p:nvSpPr>
        <p:spPr>
          <a:xfrm>
            <a:off x="4180982" y="2895831"/>
            <a:ext cx="903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顾刘一一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D1D631E-E901-0DD2-276D-0E04A320A0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5802" y="3297421"/>
            <a:ext cx="862903" cy="139262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7DA38CC-7D91-6BEF-217B-DED82B3E6B1D}"/>
              </a:ext>
            </a:extLst>
          </p:cNvPr>
          <p:cNvSpPr txBox="1"/>
          <p:nvPr/>
        </p:nvSpPr>
        <p:spPr>
          <a:xfrm>
            <a:off x="3135802" y="4751431"/>
            <a:ext cx="903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吴祈睿</a:t>
            </a:r>
          </a:p>
        </p:txBody>
      </p:sp>
    </p:spTree>
    <p:extLst>
      <p:ext uri="{BB962C8B-B14F-4D97-AF65-F5344CB8AC3E}">
        <p14:creationId xmlns:p14="http://schemas.microsoft.com/office/powerpoint/2010/main" val="204046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CD5F5-36B6-4793-A2AE-377AD389D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Grading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381FCB-0868-4D01-A75C-16B947F40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 dirty="0"/>
              <a:t>Homework, 15%</a:t>
            </a:r>
          </a:p>
          <a:p>
            <a:r>
              <a:rPr lang="en-US" altLang="zh-CN" sz="2000" dirty="0"/>
              <a:t>Labs, 10%</a:t>
            </a:r>
          </a:p>
          <a:p>
            <a:r>
              <a:rPr lang="en-US" altLang="zh-CN" sz="2000" dirty="0"/>
              <a:t>Projects, 25%</a:t>
            </a:r>
          </a:p>
          <a:p>
            <a:r>
              <a:rPr lang="en-US" altLang="zh-CN" sz="2000" dirty="0"/>
              <a:t>Midterm, 25%</a:t>
            </a:r>
          </a:p>
          <a:p>
            <a:r>
              <a:rPr lang="en-US" altLang="zh-CN" sz="2000" dirty="0"/>
              <a:t>Final, 25%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58940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5FAF3F-00F7-4CEC-84E2-5C6567D4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Questions?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FEDED9-7481-4BC2-ABB0-4BD4B817C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9223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Expressions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7"/>
          <p:cNvSpPr/>
          <p:nvPr/>
        </p:nvSpPr>
        <p:spPr>
          <a:xfrm>
            <a:off x="3557525" y="2070325"/>
            <a:ext cx="771300" cy="488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Types of Expressions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4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An expression describes a computation and evaluates to a value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825" y="1971275"/>
            <a:ext cx="878158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0439" y="2033974"/>
            <a:ext cx="35733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4051" y="2991301"/>
            <a:ext cx="1148725" cy="31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1775" y="3456600"/>
            <a:ext cx="662559" cy="31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29900" y="3973500"/>
            <a:ext cx="985948" cy="31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5449" y="3639775"/>
            <a:ext cx="622371" cy="76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05825" y="2122794"/>
            <a:ext cx="622375" cy="749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29900" y="2131567"/>
            <a:ext cx="622375" cy="377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260813" y="3086264"/>
            <a:ext cx="622375" cy="359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794374" y="4287641"/>
            <a:ext cx="1148725" cy="396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854775" y="4435283"/>
            <a:ext cx="985950" cy="242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660450" y="3912685"/>
            <a:ext cx="878150" cy="607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Call Expressions in Python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7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All expressions can use function call notation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48"/>
          <p:cNvSpPr/>
          <p:nvPr/>
        </p:nvSpPr>
        <p:spPr>
          <a:xfrm>
            <a:off x="8097600" y="4568875"/>
            <a:ext cx="734700" cy="407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Demo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9"/>
          <p:cNvSpPr/>
          <p:nvPr/>
        </p:nvSpPr>
        <p:spPr>
          <a:xfrm>
            <a:off x="2451450" y="1251325"/>
            <a:ext cx="3848700" cy="1062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Anatomy of a Call Expression</a:t>
            </a:r>
            <a:endParaRPr/>
          </a:p>
        </p:txBody>
      </p:sp>
      <p:sp>
        <p:nvSpPr>
          <p:cNvPr id="362" name="Google Shape;362;p49"/>
          <p:cNvSpPr txBox="1"/>
          <p:nvPr/>
        </p:nvSpPr>
        <p:spPr>
          <a:xfrm>
            <a:off x="2912950" y="1371350"/>
            <a:ext cx="29832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add    (    2    ,    3   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63" name="Google Shape;363;p49"/>
          <p:cNvGrpSpPr/>
          <p:nvPr/>
        </p:nvGrpSpPr>
        <p:grpSpPr>
          <a:xfrm>
            <a:off x="2720850" y="1736675"/>
            <a:ext cx="938400" cy="478500"/>
            <a:chOff x="2720850" y="1736675"/>
            <a:chExt cx="938400" cy="478500"/>
          </a:xfrm>
        </p:grpSpPr>
        <p:sp>
          <p:nvSpPr>
            <p:cNvPr id="364" name="Google Shape;364;p49"/>
            <p:cNvSpPr/>
            <p:nvPr/>
          </p:nvSpPr>
          <p:spPr>
            <a:xfrm rot="5400000">
              <a:off x="3117300" y="1442075"/>
              <a:ext cx="145500" cy="734700"/>
            </a:xfrm>
            <a:prstGeom prst="rightBrace">
              <a:avLst>
                <a:gd name="adj1" fmla="val 49931"/>
                <a:gd name="adj2" fmla="val 48506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9"/>
            <p:cNvSpPr txBox="1"/>
            <p:nvPr/>
          </p:nvSpPr>
          <p:spPr>
            <a:xfrm>
              <a:off x="2720850" y="1785875"/>
              <a:ext cx="938400" cy="42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Operator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6" name="Google Shape;366;p49"/>
          <p:cNvGrpSpPr/>
          <p:nvPr/>
        </p:nvGrpSpPr>
        <p:grpSpPr>
          <a:xfrm>
            <a:off x="3797475" y="1736675"/>
            <a:ext cx="938400" cy="478500"/>
            <a:chOff x="3797475" y="1736675"/>
            <a:chExt cx="938400" cy="478500"/>
          </a:xfrm>
        </p:grpSpPr>
        <p:sp>
          <p:nvSpPr>
            <p:cNvPr id="367" name="Google Shape;367;p49"/>
            <p:cNvSpPr txBox="1"/>
            <p:nvPr/>
          </p:nvSpPr>
          <p:spPr>
            <a:xfrm>
              <a:off x="3797475" y="1785875"/>
              <a:ext cx="938400" cy="42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Operand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8" name="Google Shape;368;p49"/>
            <p:cNvSpPr/>
            <p:nvPr/>
          </p:nvSpPr>
          <p:spPr>
            <a:xfrm rot="5400000">
              <a:off x="4193925" y="1442075"/>
              <a:ext cx="145500" cy="734700"/>
            </a:xfrm>
            <a:prstGeom prst="rightBrace">
              <a:avLst>
                <a:gd name="adj1" fmla="val 49931"/>
                <a:gd name="adj2" fmla="val 48506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" name="Google Shape;369;p49"/>
          <p:cNvGrpSpPr/>
          <p:nvPr/>
        </p:nvGrpSpPr>
        <p:grpSpPr>
          <a:xfrm>
            <a:off x="4793800" y="1736675"/>
            <a:ext cx="938400" cy="478500"/>
            <a:chOff x="4793800" y="1736675"/>
            <a:chExt cx="938400" cy="478500"/>
          </a:xfrm>
        </p:grpSpPr>
        <p:sp>
          <p:nvSpPr>
            <p:cNvPr id="370" name="Google Shape;370;p49"/>
            <p:cNvSpPr txBox="1"/>
            <p:nvPr/>
          </p:nvSpPr>
          <p:spPr>
            <a:xfrm>
              <a:off x="4793800" y="1785875"/>
              <a:ext cx="938400" cy="42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Operand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1" name="Google Shape;371;p49"/>
            <p:cNvSpPr/>
            <p:nvPr/>
          </p:nvSpPr>
          <p:spPr>
            <a:xfrm rot="5400000">
              <a:off x="5190250" y="1442075"/>
              <a:ext cx="145500" cy="734700"/>
            </a:xfrm>
            <a:prstGeom prst="rightBrace">
              <a:avLst>
                <a:gd name="adj1" fmla="val 49931"/>
                <a:gd name="adj2" fmla="val 48506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2" name="Google Shape;372;p49"/>
          <p:cNvSpPr txBox="1"/>
          <p:nvPr/>
        </p:nvSpPr>
        <p:spPr>
          <a:xfrm>
            <a:off x="2280600" y="2415325"/>
            <a:ext cx="41904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Operators and operands are also expressions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of a Call Expression</a:t>
            </a:r>
            <a:endParaRPr/>
          </a:p>
        </p:txBody>
      </p:sp>
      <p:sp>
        <p:nvSpPr>
          <p:cNvPr id="378" name="Google Shape;378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Evaluate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Evaluate the operator subexpression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Evaluate each operand subexpression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Apply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Apply the value of the operator subexpression to the values of the operand subexpression</a:t>
            </a:r>
            <a:endParaRPr/>
          </a:p>
        </p:txBody>
      </p:sp>
      <p:sp>
        <p:nvSpPr>
          <p:cNvPr id="379" name="Google Shape;379;p50"/>
          <p:cNvSpPr/>
          <p:nvPr/>
        </p:nvSpPr>
        <p:spPr>
          <a:xfrm>
            <a:off x="5814600" y="298925"/>
            <a:ext cx="3060900" cy="864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50"/>
          <p:cNvSpPr txBox="1"/>
          <p:nvPr/>
        </p:nvSpPr>
        <p:spPr>
          <a:xfrm>
            <a:off x="6190361" y="396652"/>
            <a:ext cx="2429100" cy="3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add    (    2    ,    3    )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81" name="Google Shape;381;p50"/>
          <p:cNvGrpSpPr/>
          <p:nvPr/>
        </p:nvGrpSpPr>
        <p:grpSpPr>
          <a:xfrm>
            <a:off x="6033884" y="694067"/>
            <a:ext cx="764045" cy="389595"/>
            <a:chOff x="2720850" y="1736675"/>
            <a:chExt cx="938400" cy="478500"/>
          </a:xfrm>
        </p:grpSpPr>
        <p:sp>
          <p:nvSpPr>
            <p:cNvPr id="382" name="Google Shape;382;p50"/>
            <p:cNvSpPr/>
            <p:nvPr/>
          </p:nvSpPr>
          <p:spPr>
            <a:xfrm rot="5400000">
              <a:off x="3117300" y="1442075"/>
              <a:ext cx="145500" cy="734700"/>
            </a:xfrm>
            <a:prstGeom prst="rightBrace">
              <a:avLst>
                <a:gd name="adj1" fmla="val 49931"/>
                <a:gd name="adj2" fmla="val 48506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0"/>
            <p:cNvSpPr txBox="1"/>
            <p:nvPr/>
          </p:nvSpPr>
          <p:spPr>
            <a:xfrm>
              <a:off x="2720850" y="1785875"/>
              <a:ext cx="938400" cy="42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Operator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4" name="Google Shape;384;p50"/>
          <p:cNvGrpSpPr/>
          <p:nvPr/>
        </p:nvGrpSpPr>
        <p:grpSpPr>
          <a:xfrm>
            <a:off x="6910472" y="694067"/>
            <a:ext cx="764045" cy="389595"/>
            <a:chOff x="3797475" y="1736675"/>
            <a:chExt cx="938400" cy="478500"/>
          </a:xfrm>
        </p:grpSpPr>
        <p:sp>
          <p:nvSpPr>
            <p:cNvPr id="385" name="Google Shape;385;p50"/>
            <p:cNvSpPr txBox="1"/>
            <p:nvPr/>
          </p:nvSpPr>
          <p:spPr>
            <a:xfrm>
              <a:off x="3797475" y="1785875"/>
              <a:ext cx="938400" cy="42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Operand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6" name="Google Shape;386;p50"/>
            <p:cNvSpPr/>
            <p:nvPr/>
          </p:nvSpPr>
          <p:spPr>
            <a:xfrm rot="5400000">
              <a:off x="4193925" y="1442075"/>
              <a:ext cx="145500" cy="734700"/>
            </a:xfrm>
            <a:prstGeom prst="rightBrace">
              <a:avLst>
                <a:gd name="adj1" fmla="val 49931"/>
                <a:gd name="adj2" fmla="val 48506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" name="Google Shape;387;p50"/>
          <p:cNvGrpSpPr/>
          <p:nvPr/>
        </p:nvGrpSpPr>
        <p:grpSpPr>
          <a:xfrm>
            <a:off x="7721680" y="694067"/>
            <a:ext cx="764045" cy="389595"/>
            <a:chOff x="4793800" y="1736675"/>
            <a:chExt cx="938400" cy="478500"/>
          </a:xfrm>
        </p:grpSpPr>
        <p:sp>
          <p:nvSpPr>
            <p:cNvPr id="388" name="Google Shape;388;p50"/>
            <p:cNvSpPr txBox="1"/>
            <p:nvPr/>
          </p:nvSpPr>
          <p:spPr>
            <a:xfrm>
              <a:off x="4793800" y="1785875"/>
              <a:ext cx="938400" cy="42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Operand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9" name="Google Shape;389;p50"/>
            <p:cNvSpPr/>
            <p:nvPr/>
          </p:nvSpPr>
          <p:spPr>
            <a:xfrm rot="5400000">
              <a:off x="5190250" y="1442075"/>
              <a:ext cx="145500" cy="734700"/>
            </a:xfrm>
            <a:prstGeom prst="rightBrace">
              <a:avLst>
                <a:gd name="adj1" fmla="val 49931"/>
                <a:gd name="adj2" fmla="val 48506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add(add(6, mul(4, 6)), mul(3, 5))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Humans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like to inside inside-out</a:t>
            </a:r>
            <a:endParaRPr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add(add(6, </a:t>
            </a: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mul(4, 6)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), mul(3, 5))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add(add(6,    </a:t>
            </a: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24   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), mul(3, 5))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add(</a:t>
            </a: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add(6,    24    )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mul(3, 5))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add(</a:t>
            </a: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30      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mul(3, 5))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add(</a:t>
            </a: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mul(3, 5)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add(</a:t>
            </a: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15  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add(        30       ,     15   )</a:t>
            </a:r>
            <a:endParaRPr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endParaRPr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can’t jump around in the same way we do</a:t>
            </a:r>
            <a:endParaRPr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3"/>
          <p:cNvSpPr txBox="1">
            <a:spLocks noGrp="1"/>
          </p:cNvSpPr>
          <p:nvPr>
            <p:ph type="title"/>
          </p:nvPr>
        </p:nvSpPr>
        <p:spPr>
          <a:xfrm>
            <a:off x="311700" y="2413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Nested Call Expression</a:t>
            </a:r>
            <a:endParaRPr dirty="0"/>
          </a:p>
        </p:txBody>
      </p:sp>
      <p:sp>
        <p:nvSpPr>
          <p:cNvPr id="406" name="Google Shape;406;p53"/>
          <p:cNvSpPr/>
          <p:nvPr/>
        </p:nvSpPr>
        <p:spPr>
          <a:xfrm>
            <a:off x="1446950" y="1314375"/>
            <a:ext cx="5658900" cy="3673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7890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53"/>
          <p:cNvSpPr txBox="1"/>
          <p:nvPr/>
        </p:nvSpPr>
        <p:spPr>
          <a:xfrm>
            <a:off x="527550" y="857675"/>
            <a:ext cx="81606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dirty="0">
                <a:latin typeface="Roboto Mono"/>
                <a:ea typeface="Roboto Mono"/>
                <a:cs typeface="Roboto Mono"/>
                <a:sym typeface="Roboto Mono"/>
              </a:rPr>
              <a:t>Evaluate operator		Evaluate operands	    Apply!</a:t>
            </a:r>
            <a:endParaRPr sz="16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8" name="Google Shape;408;p53"/>
          <p:cNvSpPr txBox="1"/>
          <p:nvPr/>
        </p:nvSpPr>
        <p:spPr>
          <a:xfrm>
            <a:off x="1748775" y="1911150"/>
            <a:ext cx="52479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 dirty="0">
                <a:latin typeface="Courier New" panose="02070309020205020404" pitchFamily="49" charset="0"/>
                <a:ea typeface="Roboto Mono"/>
                <a:cs typeface="Courier New" panose="02070309020205020404" pitchFamily="49" charset="0"/>
                <a:sym typeface="Roboto Mono"/>
              </a:rPr>
              <a:t>add(add(6, mul(4, 6)), mul(3, 5))</a:t>
            </a:r>
            <a:endParaRPr sz="1600" b="1" dirty="0">
              <a:latin typeface="Courier New" panose="02070309020205020404" pitchFamily="49" charset="0"/>
              <a:ea typeface="Roboto Mono"/>
              <a:cs typeface="Courier New" panose="02070309020205020404" pitchFamily="49" charset="0"/>
              <a:sym typeface="Roboto Mono"/>
            </a:endParaRPr>
          </a:p>
        </p:txBody>
      </p:sp>
      <p:cxnSp>
        <p:nvCxnSpPr>
          <p:cNvPr id="409" name="Google Shape;409;p53"/>
          <p:cNvCxnSpPr/>
          <p:nvPr/>
        </p:nvCxnSpPr>
        <p:spPr>
          <a:xfrm>
            <a:off x="2371026" y="2309725"/>
            <a:ext cx="351300" cy="0"/>
          </a:xfrm>
          <a:prstGeom prst="straightConnector1">
            <a:avLst/>
          </a:prstGeom>
          <a:noFill/>
          <a:ln w="9525" cap="flat" cmpd="sng">
            <a:solidFill>
              <a:srgbClr val="7A5FE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0" name="Google Shape;410;p53"/>
          <p:cNvSpPr txBox="1"/>
          <p:nvPr/>
        </p:nvSpPr>
        <p:spPr>
          <a:xfrm>
            <a:off x="1696225" y="2610075"/>
            <a:ext cx="6204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latin typeface="Courier New" panose="02070309020205020404" pitchFamily="49" charset="0"/>
                <a:ea typeface="Roboto Mono"/>
                <a:cs typeface="Courier New" panose="02070309020205020404" pitchFamily="49" charset="0"/>
                <a:sym typeface="Roboto Mono"/>
              </a:rPr>
              <a:t>add</a:t>
            </a:r>
            <a:endParaRPr sz="1600" b="1">
              <a:latin typeface="Courier New" panose="02070309020205020404" pitchFamily="49" charset="0"/>
              <a:ea typeface="Roboto Mono"/>
              <a:cs typeface="Courier New" panose="02070309020205020404" pitchFamily="49" charset="0"/>
              <a:sym typeface="Roboto Mono"/>
            </a:endParaRPr>
          </a:p>
        </p:txBody>
      </p:sp>
      <p:cxnSp>
        <p:nvCxnSpPr>
          <p:cNvPr id="411" name="Google Shape;411;p53"/>
          <p:cNvCxnSpPr>
            <a:stCxn id="410" idx="0"/>
          </p:cNvCxnSpPr>
          <p:nvPr/>
        </p:nvCxnSpPr>
        <p:spPr>
          <a:xfrm rot="10800000" flipH="1">
            <a:off x="2006425" y="2310975"/>
            <a:ext cx="552300" cy="299100"/>
          </a:xfrm>
          <a:prstGeom prst="straightConnector1">
            <a:avLst/>
          </a:prstGeom>
          <a:noFill/>
          <a:ln w="9525" cap="flat" cmpd="sng">
            <a:solidFill>
              <a:srgbClr val="7A5FE7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412" name="Google Shape;412;p53"/>
          <p:cNvSpPr/>
          <p:nvPr/>
        </p:nvSpPr>
        <p:spPr>
          <a:xfrm>
            <a:off x="562825" y="930725"/>
            <a:ext cx="417000" cy="299100"/>
          </a:xfrm>
          <a:prstGeom prst="roundRect">
            <a:avLst>
              <a:gd name="adj" fmla="val 50000"/>
            </a:avLst>
          </a:prstGeom>
          <a:solidFill>
            <a:srgbClr val="7A5F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sz="16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3" name="Google Shape;413;p53"/>
          <p:cNvSpPr/>
          <p:nvPr/>
        </p:nvSpPr>
        <p:spPr>
          <a:xfrm>
            <a:off x="3691628" y="930725"/>
            <a:ext cx="417000" cy="2991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16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4" name="Google Shape;414;p53"/>
          <p:cNvSpPr/>
          <p:nvPr/>
        </p:nvSpPr>
        <p:spPr>
          <a:xfrm>
            <a:off x="6977175" y="930725"/>
            <a:ext cx="417000" cy="299100"/>
          </a:xfrm>
          <a:prstGeom prst="roundRect">
            <a:avLst>
              <a:gd name="adj" fmla="val 50000"/>
            </a:avLst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sz="16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415" name="Google Shape;415;p53"/>
          <p:cNvCxnSpPr/>
          <p:nvPr/>
        </p:nvCxnSpPr>
        <p:spPr>
          <a:xfrm>
            <a:off x="2835606" y="2309725"/>
            <a:ext cx="20631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53"/>
          <p:cNvCxnSpPr>
            <a:cxnSpLocks/>
            <a:stCxn id="417" idx="0"/>
          </p:cNvCxnSpPr>
          <p:nvPr/>
        </p:nvCxnSpPr>
        <p:spPr>
          <a:xfrm flipV="1">
            <a:off x="3467968" y="2309775"/>
            <a:ext cx="374757" cy="68130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417" name="Google Shape;417;p53"/>
          <p:cNvSpPr txBox="1"/>
          <p:nvPr/>
        </p:nvSpPr>
        <p:spPr>
          <a:xfrm>
            <a:off x="2313925" y="2991075"/>
            <a:ext cx="2308086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 dirty="0">
                <a:latin typeface="Courier New" panose="02070309020205020404" pitchFamily="49" charset="0"/>
                <a:ea typeface="Roboto Mono"/>
                <a:cs typeface="Courier New" panose="02070309020205020404" pitchFamily="49" charset="0"/>
                <a:sym typeface="Roboto Mono"/>
              </a:rPr>
              <a:t>add(6, mul(4, 6))</a:t>
            </a:r>
            <a:endParaRPr sz="1600" b="1" dirty="0">
              <a:latin typeface="Courier New" panose="02070309020205020404" pitchFamily="49" charset="0"/>
              <a:ea typeface="Roboto Mono"/>
              <a:cs typeface="Courier New" panose="02070309020205020404" pitchFamily="49" charset="0"/>
              <a:sym typeface="Roboto Mono"/>
            </a:endParaRPr>
          </a:p>
        </p:txBody>
      </p:sp>
      <p:cxnSp>
        <p:nvCxnSpPr>
          <p:cNvPr id="418" name="Google Shape;418;p53"/>
          <p:cNvCxnSpPr/>
          <p:nvPr/>
        </p:nvCxnSpPr>
        <p:spPr>
          <a:xfrm>
            <a:off x="2412121" y="3359487"/>
            <a:ext cx="351300" cy="0"/>
          </a:xfrm>
          <a:prstGeom prst="straightConnector1">
            <a:avLst/>
          </a:prstGeom>
          <a:noFill/>
          <a:ln w="9525" cap="flat" cmpd="sng">
            <a:solidFill>
              <a:srgbClr val="7A5FE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9" name="Google Shape;419;p53"/>
          <p:cNvSpPr txBox="1"/>
          <p:nvPr/>
        </p:nvSpPr>
        <p:spPr>
          <a:xfrm>
            <a:off x="1737320" y="3659837"/>
            <a:ext cx="6204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latin typeface="Courier New" panose="02070309020205020404" pitchFamily="49" charset="0"/>
                <a:ea typeface="Roboto Mono"/>
                <a:cs typeface="Courier New" panose="02070309020205020404" pitchFamily="49" charset="0"/>
                <a:sym typeface="Roboto Mono"/>
              </a:rPr>
              <a:t>add</a:t>
            </a:r>
            <a:endParaRPr sz="1600" b="1">
              <a:latin typeface="Courier New" panose="02070309020205020404" pitchFamily="49" charset="0"/>
              <a:ea typeface="Roboto Mono"/>
              <a:cs typeface="Courier New" panose="02070309020205020404" pitchFamily="49" charset="0"/>
              <a:sym typeface="Roboto Mono"/>
            </a:endParaRPr>
          </a:p>
        </p:txBody>
      </p:sp>
      <p:cxnSp>
        <p:nvCxnSpPr>
          <p:cNvPr id="420" name="Google Shape;420;p53"/>
          <p:cNvCxnSpPr>
            <a:stCxn id="419" idx="0"/>
          </p:cNvCxnSpPr>
          <p:nvPr/>
        </p:nvCxnSpPr>
        <p:spPr>
          <a:xfrm rot="10800000" flipH="1">
            <a:off x="2047520" y="3360737"/>
            <a:ext cx="552300" cy="299100"/>
          </a:xfrm>
          <a:prstGeom prst="straightConnector1">
            <a:avLst/>
          </a:prstGeom>
          <a:noFill/>
          <a:ln w="9525" cap="flat" cmpd="sng">
            <a:solidFill>
              <a:srgbClr val="7A5FE7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421" name="Google Shape;421;p53"/>
          <p:cNvCxnSpPr/>
          <p:nvPr/>
        </p:nvCxnSpPr>
        <p:spPr>
          <a:xfrm>
            <a:off x="2892549" y="3359475"/>
            <a:ext cx="1239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2" name="Google Shape;422;p53"/>
          <p:cNvCxnSpPr>
            <a:stCxn id="423" idx="0"/>
          </p:cNvCxnSpPr>
          <p:nvPr/>
        </p:nvCxnSpPr>
        <p:spPr>
          <a:xfrm rot="10800000" flipH="1">
            <a:off x="2787976" y="3363737"/>
            <a:ext cx="171000" cy="29610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423" name="Google Shape;423;p53"/>
          <p:cNvSpPr txBox="1"/>
          <p:nvPr/>
        </p:nvSpPr>
        <p:spPr>
          <a:xfrm>
            <a:off x="2477776" y="3659837"/>
            <a:ext cx="6204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latin typeface="Courier New" panose="02070309020205020404" pitchFamily="49" charset="0"/>
                <a:ea typeface="Roboto Mono"/>
                <a:cs typeface="Courier New" panose="02070309020205020404" pitchFamily="49" charset="0"/>
                <a:sym typeface="Roboto Mono"/>
              </a:rPr>
              <a:t>6</a:t>
            </a:r>
            <a:endParaRPr sz="1600" b="1">
              <a:latin typeface="Courier New" panose="02070309020205020404" pitchFamily="49" charset="0"/>
              <a:ea typeface="Roboto Mono"/>
              <a:cs typeface="Courier New" panose="02070309020205020404" pitchFamily="49" charset="0"/>
              <a:sym typeface="Roboto Mono"/>
            </a:endParaRPr>
          </a:p>
        </p:txBody>
      </p:sp>
      <p:cxnSp>
        <p:nvCxnSpPr>
          <p:cNvPr id="424" name="Google Shape;424;p53"/>
          <p:cNvCxnSpPr/>
          <p:nvPr/>
        </p:nvCxnSpPr>
        <p:spPr>
          <a:xfrm>
            <a:off x="3257431" y="3359475"/>
            <a:ext cx="10725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5" name="Google Shape;425;p53"/>
          <p:cNvCxnSpPr>
            <a:stCxn id="426" idx="0"/>
          </p:cNvCxnSpPr>
          <p:nvPr/>
        </p:nvCxnSpPr>
        <p:spPr>
          <a:xfrm rot="10800000" flipH="1">
            <a:off x="3812365" y="3367325"/>
            <a:ext cx="2100" cy="29250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426" name="Google Shape;426;p53"/>
          <p:cNvSpPr txBox="1"/>
          <p:nvPr/>
        </p:nvSpPr>
        <p:spPr>
          <a:xfrm>
            <a:off x="3165115" y="3659825"/>
            <a:ext cx="12945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 dirty="0">
                <a:latin typeface="Courier New" panose="02070309020205020404" pitchFamily="49" charset="0"/>
                <a:ea typeface="Roboto Mono"/>
                <a:cs typeface="Courier New" panose="02070309020205020404" pitchFamily="49" charset="0"/>
                <a:sym typeface="Roboto Mono"/>
              </a:rPr>
              <a:t>mul(4, 6)</a:t>
            </a:r>
            <a:endParaRPr sz="1600" b="1" dirty="0">
              <a:latin typeface="Courier New" panose="02070309020205020404" pitchFamily="49" charset="0"/>
              <a:ea typeface="Roboto Mono"/>
              <a:cs typeface="Courier New" panose="02070309020205020404" pitchFamily="49" charset="0"/>
              <a:sym typeface="Roboto Mono"/>
            </a:endParaRPr>
          </a:p>
        </p:txBody>
      </p:sp>
      <p:cxnSp>
        <p:nvCxnSpPr>
          <p:cNvPr id="427" name="Google Shape;427;p53"/>
          <p:cNvCxnSpPr/>
          <p:nvPr/>
        </p:nvCxnSpPr>
        <p:spPr>
          <a:xfrm>
            <a:off x="3255680" y="4027383"/>
            <a:ext cx="351300" cy="0"/>
          </a:xfrm>
          <a:prstGeom prst="straightConnector1">
            <a:avLst/>
          </a:prstGeom>
          <a:noFill/>
          <a:ln w="9525" cap="flat" cmpd="sng">
            <a:solidFill>
              <a:srgbClr val="7A5FE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8" name="Google Shape;428;p53"/>
          <p:cNvSpPr txBox="1"/>
          <p:nvPr/>
        </p:nvSpPr>
        <p:spPr>
          <a:xfrm>
            <a:off x="2580879" y="4327733"/>
            <a:ext cx="6204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latin typeface="Courier New" panose="02070309020205020404" pitchFamily="49" charset="0"/>
                <a:ea typeface="Roboto Mono"/>
                <a:cs typeface="Courier New" panose="02070309020205020404" pitchFamily="49" charset="0"/>
                <a:sym typeface="Roboto Mono"/>
              </a:rPr>
              <a:t>mul</a:t>
            </a:r>
            <a:endParaRPr sz="1600" b="1">
              <a:latin typeface="Courier New" panose="02070309020205020404" pitchFamily="49" charset="0"/>
              <a:ea typeface="Roboto Mono"/>
              <a:cs typeface="Courier New" panose="02070309020205020404" pitchFamily="49" charset="0"/>
              <a:sym typeface="Roboto Mono"/>
            </a:endParaRPr>
          </a:p>
        </p:txBody>
      </p:sp>
      <p:cxnSp>
        <p:nvCxnSpPr>
          <p:cNvPr id="429" name="Google Shape;429;p53"/>
          <p:cNvCxnSpPr>
            <a:stCxn id="428" idx="0"/>
          </p:cNvCxnSpPr>
          <p:nvPr/>
        </p:nvCxnSpPr>
        <p:spPr>
          <a:xfrm rot="10800000" flipH="1">
            <a:off x="2891079" y="4028633"/>
            <a:ext cx="552300" cy="299100"/>
          </a:xfrm>
          <a:prstGeom prst="straightConnector1">
            <a:avLst/>
          </a:prstGeom>
          <a:noFill/>
          <a:ln w="9525" cap="flat" cmpd="sng">
            <a:solidFill>
              <a:srgbClr val="7A5FE7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430" name="Google Shape;430;p53"/>
          <p:cNvCxnSpPr/>
          <p:nvPr/>
        </p:nvCxnSpPr>
        <p:spPr>
          <a:xfrm>
            <a:off x="3754341" y="4027375"/>
            <a:ext cx="1239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1" name="Google Shape;431;p53"/>
          <p:cNvCxnSpPr>
            <a:stCxn id="432" idx="0"/>
          </p:cNvCxnSpPr>
          <p:nvPr/>
        </p:nvCxnSpPr>
        <p:spPr>
          <a:xfrm rot="10800000" flipH="1">
            <a:off x="3649767" y="4031637"/>
            <a:ext cx="171000" cy="29610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432" name="Google Shape;432;p53"/>
          <p:cNvSpPr txBox="1"/>
          <p:nvPr/>
        </p:nvSpPr>
        <p:spPr>
          <a:xfrm>
            <a:off x="3339567" y="4327737"/>
            <a:ext cx="6204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latin typeface="Courier New" panose="02070309020205020404" pitchFamily="49" charset="0"/>
                <a:ea typeface="Roboto Mono"/>
                <a:cs typeface="Courier New" panose="02070309020205020404" pitchFamily="49" charset="0"/>
                <a:sym typeface="Roboto Mono"/>
              </a:rPr>
              <a:t>4</a:t>
            </a:r>
            <a:endParaRPr sz="1600" b="1">
              <a:latin typeface="Courier New" panose="02070309020205020404" pitchFamily="49" charset="0"/>
              <a:ea typeface="Roboto Mono"/>
              <a:cs typeface="Courier New" panose="02070309020205020404" pitchFamily="49" charset="0"/>
              <a:sym typeface="Roboto Mono"/>
            </a:endParaRPr>
          </a:p>
        </p:txBody>
      </p:sp>
      <p:cxnSp>
        <p:nvCxnSpPr>
          <p:cNvPr id="433" name="Google Shape;433;p53"/>
          <p:cNvCxnSpPr/>
          <p:nvPr/>
        </p:nvCxnSpPr>
        <p:spPr>
          <a:xfrm>
            <a:off x="4113786" y="4027375"/>
            <a:ext cx="1239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4" name="Google Shape;434;p53"/>
          <p:cNvCxnSpPr>
            <a:stCxn id="435" idx="0"/>
          </p:cNvCxnSpPr>
          <p:nvPr/>
        </p:nvCxnSpPr>
        <p:spPr>
          <a:xfrm rot="10800000">
            <a:off x="4177226" y="4028037"/>
            <a:ext cx="0" cy="29970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435" name="Google Shape;435;p53"/>
          <p:cNvSpPr txBox="1"/>
          <p:nvPr/>
        </p:nvSpPr>
        <p:spPr>
          <a:xfrm>
            <a:off x="3867026" y="4327737"/>
            <a:ext cx="6204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latin typeface="Courier New" panose="02070309020205020404" pitchFamily="49" charset="0"/>
                <a:ea typeface="Roboto Mono"/>
                <a:cs typeface="Courier New" panose="02070309020205020404" pitchFamily="49" charset="0"/>
                <a:sym typeface="Roboto Mono"/>
              </a:rPr>
              <a:t>6</a:t>
            </a:r>
            <a:endParaRPr sz="1600" b="1">
              <a:latin typeface="Courier New" panose="02070309020205020404" pitchFamily="49" charset="0"/>
              <a:ea typeface="Roboto Mono"/>
              <a:cs typeface="Courier New" panose="02070309020205020404" pitchFamily="49" charset="0"/>
              <a:sym typeface="Roboto Mono"/>
            </a:endParaRPr>
          </a:p>
        </p:txBody>
      </p:sp>
      <p:sp>
        <p:nvSpPr>
          <p:cNvPr id="436" name="Google Shape;436;p53"/>
          <p:cNvSpPr/>
          <p:nvPr/>
        </p:nvSpPr>
        <p:spPr>
          <a:xfrm>
            <a:off x="3257525" y="3420450"/>
            <a:ext cx="1072500" cy="299100"/>
          </a:xfrm>
          <a:prstGeom prst="roundRect">
            <a:avLst>
              <a:gd name="adj" fmla="val 50000"/>
            </a:avLst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24</a:t>
            </a:r>
            <a:endParaRPr sz="16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7" name="Google Shape;437;p53"/>
          <p:cNvSpPr/>
          <p:nvPr/>
        </p:nvSpPr>
        <p:spPr>
          <a:xfrm>
            <a:off x="2539274" y="2696505"/>
            <a:ext cx="2063100" cy="299100"/>
          </a:xfrm>
          <a:prstGeom prst="roundRect">
            <a:avLst>
              <a:gd name="adj" fmla="val 50000"/>
            </a:avLst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30</a:t>
            </a:r>
            <a:endParaRPr sz="16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438" name="Google Shape;438;p53"/>
          <p:cNvCxnSpPr>
            <a:stCxn id="439" idx="0"/>
          </p:cNvCxnSpPr>
          <p:nvPr/>
        </p:nvCxnSpPr>
        <p:spPr>
          <a:xfrm rot="10800000">
            <a:off x="5677550" y="2313725"/>
            <a:ext cx="503100" cy="67740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439" name="Google Shape;439;p53"/>
          <p:cNvSpPr txBox="1"/>
          <p:nvPr/>
        </p:nvSpPr>
        <p:spPr>
          <a:xfrm>
            <a:off x="5533400" y="2991125"/>
            <a:ext cx="12945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 dirty="0">
                <a:latin typeface="Courier New" panose="02070309020205020404" pitchFamily="49" charset="0"/>
                <a:ea typeface="Roboto Mono"/>
                <a:cs typeface="Courier New" panose="02070309020205020404" pitchFamily="49" charset="0"/>
                <a:sym typeface="Roboto Mono"/>
              </a:rPr>
              <a:t>mul(3, 5)</a:t>
            </a:r>
            <a:endParaRPr sz="1600" b="1" dirty="0">
              <a:latin typeface="Courier New" panose="02070309020205020404" pitchFamily="49" charset="0"/>
              <a:ea typeface="Roboto Mono"/>
              <a:cs typeface="Courier New" panose="02070309020205020404" pitchFamily="49" charset="0"/>
              <a:sym typeface="Roboto Mono"/>
            </a:endParaRPr>
          </a:p>
        </p:txBody>
      </p:sp>
      <p:sp>
        <p:nvSpPr>
          <p:cNvPr id="440" name="Google Shape;440;p53"/>
          <p:cNvSpPr/>
          <p:nvPr/>
        </p:nvSpPr>
        <p:spPr>
          <a:xfrm>
            <a:off x="5483760" y="2696512"/>
            <a:ext cx="1072500" cy="299100"/>
          </a:xfrm>
          <a:prstGeom prst="roundRect">
            <a:avLst>
              <a:gd name="adj" fmla="val 50000"/>
            </a:avLst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15</a:t>
            </a:r>
            <a:endParaRPr sz="16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441" name="Google Shape;441;p53"/>
          <p:cNvCxnSpPr/>
          <p:nvPr/>
        </p:nvCxnSpPr>
        <p:spPr>
          <a:xfrm>
            <a:off x="5158687" y="2309725"/>
            <a:ext cx="10725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53"/>
          <p:cNvCxnSpPr/>
          <p:nvPr/>
        </p:nvCxnSpPr>
        <p:spPr>
          <a:xfrm>
            <a:off x="5634262" y="3359483"/>
            <a:ext cx="351300" cy="0"/>
          </a:xfrm>
          <a:prstGeom prst="straightConnector1">
            <a:avLst/>
          </a:prstGeom>
          <a:noFill/>
          <a:ln w="9525" cap="flat" cmpd="sng">
            <a:solidFill>
              <a:srgbClr val="7A5FE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3" name="Google Shape;443;p53"/>
          <p:cNvSpPr txBox="1"/>
          <p:nvPr/>
        </p:nvSpPr>
        <p:spPr>
          <a:xfrm>
            <a:off x="4959461" y="3659833"/>
            <a:ext cx="6204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latin typeface="Courier New" panose="02070309020205020404" pitchFamily="49" charset="0"/>
                <a:ea typeface="Roboto Mono"/>
                <a:cs typeface="Courier New" panose="02070309020205020404" pitchFamily="49" charset="0"/>
                <a:sym typeface="Roboto Mono"/>
              </a:rPr>
              <a:t>mul</a:t>
            </a:r>
            <a:endParaRPr sz="1600" b="1">
              <a:latin typeface="Courier New" panose="02070309020205020404" pitchFamily="49" charset="0"/>
              <a:ea typeface="Roboto Mono"/>
              <a:cs typeface="Courier New" panose="02070309020205020404" pitchFamily="49" charset="0"/>
              <a:sym typeface="Roboto Mono"/>
            </a:endParaRPr>
          </a:p>
        </p:txBody>
      </p:sp>
      <p:cxnSp>
        <p:nvCxnSpPr>
          <p:cNvPr id="444" name="Google Shape;444;p53"/>
          <p:cNvCxnSpPr>
            <a:stCxn id="443" idx="0"/>
          </p:cNvCxnSpPr>
          <p:nvPr/>
        </p:nvCxnSpPr>
        <p:spPr>
          <a:xfrm rot="10800000" flipH="1">
            <a:off x="5269661" y="3360733"/>
            <a:ext cx="552300" cy="299100"/>
          </a:xfrm>
          <a:prstGeom prst="straightConnector1">
            <a:avLst/>
          </a:prstGeom>
          <a:noFill/>
          <a:ln w="9525" cap="flat" cmpd="sng">
            <a:solidFill>
              <a:srgbClr val="7A5FE7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445" name="Google Shape;445;p53"/>
          <p:cNvCxnSpPr/>
          <p:nvPr/>
        </p:nvCxnSpPr>
        <p:spPr>
          <a:xfrm>
            <a:off x="6113823" y="3359475"/>
            <a:ext cx="1239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6" name="Google Shape;446;p53"/>
          <p:cNvCxnSpPr>
            <a:stCxn id="447" idx="0"/>
          </p:cNvCxnSpPr>
          <p:nvPr/>
        </p:nvCxnSpPr>
        <p:spPr>
          <a:xfrm rot="10800000" flipH="1">
            <a:off x="6009250" y="3363737"/>
            <a:ext cx="171000" cy="29610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447" name="Google Shape;447;p53"/>
          <p:cNvSpPr txBox="1"/>
          <p:nvPr/>
        </p:nvSpPr>
        <p:spPr>
          <a:xfrm>
            <a:off x="5699050" y="3659837"/>
            <a:ext cx="6204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latin typeface="Courier New" panose="02070309020205020404" pitchFamily="49" charset="0"/>
                <a:ea typeface="Roboto Mono"/>
                <a:cs typeface="Courier New" panose="02070309020205020404" pitchFamily="49" charset="0"/>
                <a:sym typeface="Roboto Mono"/>
              </a:rPr>
              <a:t>3</a:t>
            </a:r>
            <a:endParaRPr sz="1600" b="1">
              <a:latin typeface="Courier New" panose="02070309020205020404" pitchFamily="49" charset="0"/>
              <a:ea typeface="Roboto Mono"/>
              <a:cs typeface="Courier New" panose="02070309020205020404" pitchFamily="49" charset="0"/>
              <a:sym typeface="Roboto Mono"/>
            </a:endParaRPr>
          </a:p>
        </p:txBody>
      </p:sp>
      <p:cxnSp>
        <p:nvCxnSpPr>
          <p:cNvPr id="448" name="Google Shape;448;p53"/>
          <p:cNvCxnSpPr/>
          <p:nvPr/>
        </p:nvCxnSpPr>
        <p:spPr>
          <a:xfrm>
            <a:off x="6492361" y="3359475"/>
            <a:ext cx="1239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9" name="Google Shape;449;p53"/>
          <p:cNvCxnSpPr>
            <a:stCxn id="450" idx="0"/>
          </p:cNvCxnSpPr>
          <p:nvPr/>
        </p:nvCxnSpPr>
        <p:spPr>
          <a:xfrm rot="10800000">
            <a:off x="6555801" y="3360137"/>
            <a:ext cx="0" cy="29970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450" name="Google Shape;450;p53"/>
          <p:cNvSpPr txBox="1"/>
          <p:nvPr/>
        </p:nvSpPr>
        <p:spPr>
          <a:xfrm>
            <a:off x="6245601" y="3659837"/>
            <a:ext cx="6204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latin typeface="Courier New" panose="02070309020205020404" pitchFamily="49" charset="0"/>
                <a:ea typeface="Roboto Mono"/>
                <a:cs typeface="Courier New" panose="02070309020205020404" pitchFamily="49" charset="0"/>
                <a:sym typeface="Roboto Mono"/>
              </a:rPr>
              <a:t>5</a:t>
            </a:r>
            <a:endParaRPr sz="1600" b="1">
              <a:latin typeface="Courier New" panose="02070309020205020404" pitchFamily="49" charset="0"/>
              <a:ea typeface="Roboto Mono"/>
              <a:cs typeface="Courier New" panose="02070309020205020404" pitchFamily="49" charset="0"/>
              <a:sym typeface="Roboto Mono"/>
            </a:endParaRPr>
          </a:p>
        </p:txBody>
      </p:sp>
      <p:sp>
        <p:nvSpPr>
          <p:cNvPr id="451" name="Google Shape;451;p53"/>
          <p:cNvSpPr/>
          <p:nvPr/>
        </p:nvSpPr>
        <p:spPr>
          <a:xfrm>
            <a:off x="2371025" y="1614773"/>
            <a:ext cx="3978900" cy="299100"/>
          </a:xfrm>
          <a:prstGeom prst="roundRect">
            <a:avLst>
              <a:gd name="adj" fmla="val 50000"/>
            </a:avLst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45</a:t>
            </a:r>
            <a:endParaRPr sz="16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2" name="Google Shape;452;p53"/>
          <p:cNvSpPr/>
          <p:nvPr/>
        </p:nvSpPr>
        <p:spPr>
          <a:xfrm>
            <a:off x="6072725" y="4633525"/>
            <a:ext cx="2063100" cy="445200"/>
          </a:xfrm>
          <a:prstGeom prst="roundRect">
            <a:avLst>
              <a:gd name="adj" fmla="val 50000"/>
            </a:avLst>
          </a:prstGeom>
          <a:solidFill>
            <a:srgbClr val="7890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Expression Tree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Functions, Values, Objects, Interpreters and Data</a:t>
            </a:r>
            <a:endParaRPr sz="2400"/>
          </a:p>
        </p:txBody>
      </p:sp>
      <p:sp>
        <p:nvSpPr>
          <p:cNvPr id="458" name="Google Shape;458;p54"/>
          <p:cNvSpPr/>
          <p:nvPr/>
        </p:nvSpPr>
        <p:spPr>
          <a:xfrm>
            <a:off x="8097600" y="4568875"/>
            <a:ext cx="734700" cy="407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Demo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222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15311</TotalTime>
  <Words>1091</Words>
  <Application>Microsoft Office PowerPoint</Application>
  <PresentationFormat>全屏显示(16:9)</PresentationFormat>
  <Paragraphs>215</Paragraphs>
  <Slides>26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微软雅黑</vt:lpstr>
      <vt:lpstr>等线 Light</vt:lpstr>
      <vt:lpstr>Courier New</vt:lpstr>
      <vt:lpstr>Roboto</vt:lpstr>
      <vt:lpstr>Consolas</vt:lpstr>
      <vt:lpstr>Arial</vt:lpstr>
      <vt:lpstr>等线</vt:lpstr>
      <vt:lpstr>Roboto Mono</vt:lpstr>
      <vt:lpstr>Simple Light</vt:lpstr>
      <vt:lpstr>Office 主题​​</vt:lpstr>
      <vt:lpstr>Course Introduction</vt:lpstr>
      <vt:lpstr>What is Computer Science?</vt:lpstr>
      <vt:lpstr>What is Computer Science?</vt:lpstr>
      <vt:lpstr>What is Computer Science?</vt:lpstr>
      <vt:lpstr>What is Computer Science?</vt:lpstr>
      <vt:lpstr>What is this course about?</vt:lpstr>
      <vt:lpstr>What is this course about?</vt:lpstr>
      <vt:lpstr>What is this course about?</vt:lpstr>
      <vt:lpstr>What is this course about?</vt:lpstr>
      <vt:lpstr>Alternative to this course</vt:lpstr>
      <vt:lpstr>PowerPoint 演示文稿</vt:lpstr>
      <vt:lpstr>This Course: A Clone of BerkeleyCS61A</vt:lpstr>
      <vt:lpstr>PowerPoint 演示文稿</vt:lpstr>
      <vt:lpstr>Course Info</vt:lpstr>
      <vt:lpstr>Course Info</vt:lpstr>
      <vt:lpstr>Grading</vt:lpstr>
      <vt:lpstr>Questions?</vt:lpstr>
      <vt:lpstr>Expressions</vt:lpstr>
      <vt:lpstr>Types of Expressions</vt:lpstr>
      <vt:lpstr>Call Expressions in Python</vt:lpstr>
      <vt:lpstr>Anatomy of a Call Expression</vt:lpstr>
      <vt:lpstr>Evaluation of a Call Expression</vt:lpstr>
      <vt:lpstr>add(add(6, mul(4, 6)), mul(3, 5))</vt:lpstr>
      <vt:lpstr>Humans</vt:lpstr>
      <vt:lpstr>Nested Call Expression</vt:lpstr>
      <vt:lpstr>Functions, Values, Objects, Interpreters and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</dc:title>
  <dc:creator>xinyu</dc:creator>
  <cp:lastModifiedBy>新宇 冯</cp:lastModifiedBy>
  <cp:revision>47</cp:revision>
  <dcterms:modified xsi:type="dcterms:W3CDTF">2026-09-14T05:17:08Z</dcterms:modified>
</cp:coreProperties>
</file>